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421" r:id="rId2"/>
    <p:sldId id="348" r:id="rId3"/>
    <p:sldId id="257" r:id="rId4"/>
    <p:sldId id="381" r:id="rId5"/>
    <p:sldId id="408" r:id="rId6"/>
    <p:sldId id="438" r:id="rId7"/>
    <p:sldId id="409" r:id="rId8"/>
    <p:sldId id="410" r:id="rId9"/>
    <p:sldId id="372" r:id="rId10"/>
    <p:sldId id="411" r:id="rId11"/>
    <p:sldId id="422" r:id="rId12"/>
    <p:sldId id="380" r:id="rId13"/>
    <p:sldId id="401" r:id="rId14"/>
    <p:sldId id="423" r:id="rId15"/>
    <p:sldId id="424" r:id="rId16"/>
    <p:sldId id="425" r:id="rId17"/>
    <p:sldId id="382" r:id="rId18"/>
    <p:sldId id="412" r:id="rId19"/>
    <p:sldId id="413" r:id="rId20"/>
    <p:sldId id="414" r:id="rId21"/>
    <p:sldId id="420" r:id="rId22"/>
    <p:sldId id="419" r:id="rId23"/>
    <p:sldId id="427" r:id="rId24"/>
    <p:sldId id="426" r:id="rId25"/>
    <p:sldId id="437" r:id="rId26"/>
    <p:sldId id="428" r:id="rId27"/>
    <p:sldId id="435" r:id="rId28"/>
    <p:sldId id="436" r:id="rId29"/>
    <p:sldId id="389" r:id="rId30"/>
    <p:sldId id="429" r:id="rId31"/>
    <p:sldId id="343" r:id="rId32"/>
    <p:sldId id="430" r:id="rId33"/>
    <p:sldId id="432" r:id="rId34"/>
    <p:sldId id="395" r:id="rId35"/>
    <p:sldId id="433" r:id="rId36"/>
    <p:sldId id="434"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DE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9C2A6B-993E-4D64-BF37-121F711DB4D0}" v="61" dt="2026-04-06T17:37:04.9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86370" autoAdjust="0"/>
  </p:normalViewPr>
  <p:slideViewPr>
    <p:cSldViewPr snapToGrid="0">
      <p:cViewPr varScale="1">
        <p:scale>
          <a:sx n="82" d="100"/>
          <a:sy n="82" d="100"/>
        </p:scale>
        <p:origin x="557" y="72"/>
      </p:cViewPr>
      <p:guideLst>
        <p:guide orient="horz" pos="2160"/>
        <p:guide pos="3817"/>
      </p:guideLst>
    </p:cSldViewPr>
  </p:slideViewPr>
  <p:outlineViewPr>
    <p:cViewPr>
      <p:scale>
        <a:sx n="33" d="100"/>
        <a:sy n="33" d="100"/>
      </p:scale>
      <p:origin x="0" y="-2016"/>
    </p:cViewPr>
  </p:outlineViewPr>
  <p:notesTextViewPr>
    <p:cViewPr>
      <p:scale>
        <a:sx n="1" d="1"/>
        <a:sy n="1" d="1"/>
      </p:scale>
      <p:origin x="0" y="0"/>
    </p:cViewPr>
  </p:notesTextViewPr>
  <p:sorterViewPr>
    <p:cViewPr>
      <p:scale>
        <a:sx n="100" d="100"/>
        <a:sy n="100" d="100"/>
      </p:scale>
      <p:origin x="0" y="-204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thish S J" userId="069e7e41f1a08db3" providerId="LiveId" clId="{939A7DD9-CE71-4F8B-91B3-6DF1970240BD}"/>
    <pc:docChg chg="undo custSel addSld delSld modSld sldOrd">
      <pc:chgData name="Nithish S J" userId="069e7e41f1a08db3" providerId="LiveId" clId="{939A7DD9-CE71-4F8B-91B3-6DF1970240BD}" dt="2026-04-06T17:37:04.910" v="440" actId="14826"/>
      <pc:docMkLst>
        <pc:docMk/>
      </pc:docMkLst>
      <pc:sldChg chg="modSp add mod">
        <pc:chgData name="Nithish S J" userId="069e7e41f1a08db3" providerId="LiveId" clId="{939A7DD9-CE71-4F8B-91B3-6DF1970240BD}" dt="2026-03-31T13:04:16.495" v="374" actId="1035"/>
        <pc:sldMkLst>
          <pc:docMk/>
          <pc:sldMk cId="3472242081" sldId="343"/>
        </pc:sldMkLst>
        <pc:spChg chg="mod">
          <ac:chgData name="Nithish S J" userId="069e7e41f1a08db3" providerId="LiveId" clId="{939A7DD9-CE71-4F8B-91B3-6DF1970240BD}" dt="2026-03-31T13:04:16.495" v="374" actId="1035"/>
          <ac:spMkLst>
            <pc:docMk/>
            <pc:sldMk cId="3472242081" sldId="343"/>
            <ac:spMk id="2" creationId="{785DCAE6-8D39-4020-8485-01FCF0DADDE0}"/>
          </ac:spMkLst>
        </pc:spChg>
      </pc:sldChg>
      <pc:sldChg chg="modSp mod">
        <pc:chgData name="Nithish S J" userId="069e7e41f1a08db3" providerId="LiveId" clId="{939A7DD9-CE71-4F8B-91B3-6DF1970240BD}" dt="2026-03-31T12:44:18.879" v="138" actId="20577"/>
        <pc:sldMkLst>
          <pc:docMk/>
          <pc:sldMk cId="0" sldId="372"/>
        </pc:sldMkLst>
        <pc:spChg chg="mod">
          <ac:chgData name="Nithish S J" userId="069e7e41f1a08db3" providerId="LiveId" clId="{939A7DD9-CE71-4F8B-91B3-6DF1970240BD}" dt="2026-03-31T12:44:18.879" v="138" actId="20577"/>
          <ac:spMkLst>
            <pc:docMk/>
            <pc:sldMk cId="0" sldId="372"/>
            <ac:spMk id="2" creationId="{00000000-0000-0000-0000-000000000000}"/>
          </ac:spMkLst>
        </pc:spChg>
        <pc:spChg chg="mod">
          <ac:chgData name="Nithish S J" userId="069e7e41f1a08db3" providerId="LiveId" clId="{939A7DD9-CE71-4F8B-91B3-6DF1970240BD}" dt="2026-03-31T12:44:08.186" v="125" actId="113"/>
          <ac:spMkLst>
            <pc:docMk/>
            <pc:sldMk cId="0" sldId="372"/>
            <ac:spMk id="6" creationId="{9E23479E-1BA0-DD47-48D9-4469ACFF0AD8}"/>
          </ac:spMkLst>
        </pc:spChg>
      </pc:sldChg>
      <pc:sldChg chg="modSp mod">
        <pc:chgData name="Nithish S J" userId="069e7e41f1a08db3" providerId="LiveId" clId="{939A7DD9-CE71-4F8B-91B3-6DF1970240BD}" dt="2026-03-31T13:07:54.469" v="400" actId="123"/>
        <pc:sldMkLst>
          <pc:docMk/>
          <pc:sldMk cId="81827897" sldId="381"/>
        </pc:sldMkLst>
        <pc:spChg chg="mod">
          <ac:chgData name="Nithish S J" userId="069e7e41f1a08db3" providerId="LiveId" clId="{939A7DD9-CE71-4F8B-91B3-6DF1970240BD}" dt="2026-03-31T13:07:54.469" v="400" actId="123"/>
          <ac:spMkLst>
            <pc:docMk/>
            <pc:sldMk cId="81827897" sldId="381"/>
            <ac:spMk id="3" creationId="{F1549213-09CA-8E34-74BB-93F50670C68F}"/>
          </ac:spMkLst>
        </pc:spChg>
      </pc:sldChg>
      <pc:sldChg chg="modSp mod">
        <pc:chgData name="Nithish S J" userId="069e7e41f1a08db3" providerId="LiveId" clId="{939A7DD9-CE71-4F8B-91B3-6DF1970240BD}" dt="2026-03-31T12:54:42.464" v="322"/>
        <pc:sldMkLst>
          <pc:docMk/>
          <pc:sldMk cId="2080241936" sldId="389"/>
        </pc:sldMkLst>
        <pc:spChg chg="mod">
          <ac:chgData name="Nithish S J" userId="069e7e41f1a08db3" providerId="LiveId" clId="{939A7DD9-CE71-4F8B-91B3-6DF1970240BD}" dt="2026-03-31T12:54:42.464" v="322"/>
          <ac:spMkLst>
            <pc:docMk/>
            <pc:sldMk cId="2080241936" sldId="389"/>
            <ac:spMk id="3" creationId="{42E2F2F4-C35D-236A-A9F2-7096E8A59705}"/>
          </ac:spMkLst>
        </pc:spChg>
      </pc:sldChg>
      <pc:sldChg chg="add">
        <pc:chgData name="Nithish S J" userId="069e7e41f1a08db3" providerId="LiveId" clId="{939A7DD9-CE71-4F8B-91B3-6DF1970240BD}" dt="2026-03-31T13:03:35.242" v="333"/>
        <pc:sldMkLst>
          <pc:docMk/>
          <pc:sldMk cId="0" sldId="395"/>
        </pc:sldMkLst>
      </pc:sldChg>
      <pc:sldChg chg="del">
        <pc:chgData name="Nithish S J" userId="069e7e41f1a08db3" providerId="LiveId" clId="{939A7DD9-CE71-4F8B-91B3-6DF1970240BD}" dt="2026-04-06T05:03:31.110" v="434" actId="47"/>
        <pc:sldMkLst>
          <pc:docMk/>
          <pc:sldMk cId="0" sldId="399"/>
        </pc:sldMkLst>
      </pc:sldChg>
      <pc:sldChg chg="add del">
        <pc:chgData name="Nithish S J" userId="069e7e41f1a08db3" providerId="LiveId" clId="{939A7DD9-CE71-4F8B-91B3-6DF1970240BD}" dt="2026-04-06T05:03:40.775" v="436"/>
        <pc:sldMkLst>
          <pc:docMk/>
          <pc:sldMk cId="646630839" sldId="409"/>
        </pc:sldMkLst>
      </pc:sldChg>
      <pc:sldChg chg="ord">
        <pc:chgData name="Nithish S J" userId="069e7e41f1a08db3" providerId="LiveId" clId="{939A7DD9-CE71-4F8B-91B3-6DF1970240BD}" dt="2026-03-31T12:44:41.608" v="140"/>
        <pc:sldMkLst>
          <pc:docMk/>
          <pc:sldMk cId="405349934" sldId="411"/>
        </pc:sldMkLst>
      </pc:sldChg>
      <pc:sldChg chg="addSp delSp modSp mod">
        <pc:chgData name="Nithish S J" userId="069e7e41f1a08db3" providerId="LiveId" clId="{939A7DD9-CE71-4F8B-91B3-6DF1970240BD}" dt="2026-04-01T10:05:07.168" v="407" actId="2711"/>
        <pc:sldMkLst>
          <pc:docMk/>
          <pc:sldMk cId="3473295406" sldId="419"/>
        </pc:sldMkLst>
        <pc:spChg chg="mod">
          <ac:chgData name="Nithish S J" userId="069e7e41f1a08db3" providerId="LiveId" clId="{939A7DD9-CE71-4F8B-91B3-6DF1970240BD}" dt="2026-03-31T12:49:42.317" v="274" actId="20577"/>
          <ac:spMkLst>
            <pc:docMk/>
            <pc:sldMk cId="3473295406" sldId="419"/>
            <ac:spMk id="2" creationId="{E9B03483-8F77-D452-0343-FD66C3CF21E7}"/>
          </ac:spMkLst>
        </pc:spChg>
        <pc:spChg chg="mod">
          <ac:chgData name="Nithish S J" userId="069e7e41f1a08db3" providerId="LiveId" clId="{939A7DD9-CE71-4F8B-91B3-6DF1970240BD}" dt="2026-04-01T10:05:07.168" v="407" actId="2711"/>
          <ac:spMkLst>
            <pc:docMk/>
            <pc:sldMk cId="3473295406" sldId="419"/>
            <ac:spMk id="5" creationId="{560341F6-5090-8562-353E-46D483819BAF}"/>
          </ac:spMkLst>
        </pc:spChg>
        <pc:picChg chg="add mod">
          <ac:chgData name="Nithish S J" userId="069e7e41f1a08db3" providerId="LiveId" clId="{939A7DD9-CE71-4F8B-91B3-6DF1970240BD}" dt="2026-03-31T12:49:23.952" v="255" actId="1076"/>
          <ac:picMkLst>
            <pc:docMk/>
            <pc:sldMk cId="3473295406" sldId="419"/>
            <ac:picMk id="3" creationId="{2B29AF80-55E1-2B69-1A85-C36D557BE98D}"/>
          </ac:picMkLst>
        </pc:picChg>
      </pc:sldChg>
      <pc:sldChg chg="ord">
        <pc:chgData name="Nithish S J" userId="069e7e41f1a08db3" providerId="LiveId" clId="{939A7DD9-CE71-4F8B-91B3-6DF1970240BD}" dt="2026-03-31T12:48:20.742" v="251"/>
        <pc:sldMkLst>
          <pc:docMk/>
          <pc:sldMk cId="1102304334" sldId="420"/>
        </pc:sldMkLst>
      </pc:sldChg>
      <pc:sldChg chg="add ord">
        <pc:chgData name="Nithish S J" userId="069e7e41f1a08db3" providerId="LiveId" clId="{939A7DD9-CE71-4F8B-91B3-6DF1970240BD}" dt="2026-03-31T12:38:17.600" v="103"/>
        <pc:sldMkLst>
          <pc:docMk/>
          <pc:sldMk cId="3026355613" sldId="421"/>
        </pc:sldMkLst>
      </pc:sldChg>
      <pc:sldChg chg="add">
        <pc:chgData name="Nithish S J" userId="069e7e41f1a08db3" providerId="LiveId" clId="{939A7DD9-CE71-4F8B-91B3-6DF1970240BD}" dt="2026-03-31T12:41:47.163" v="109" actId="2890"/>
        <pc:sldMkLst>
          <pc:docMk/>
          <pc:sldMk cId="2967241443" sldId="422"/>
        </pc:sldMkLst>
      </pc:sldChg>
      <pc:sldChg chg="addSp delSp modSp add mod">
        <pc:chgData name="Nithish S J" userId="069e7e41f1a08db3" providerId="LiveId" clId="{939A7DD9-CE71-4F8B-91B3-6DF1970240BD}" dt="2026-03-31T12:45:51.633" v="224" actId="1076"/>
        <pc:sldMkLst>
          <pc:docMk/>
          <pc:sldMk cId="2589711438" sldId="423"/>
        </pc:sldMkLst>
        <pc:spChg chg="mod">
          <ac:chgData name="Nithish S J" userId="069e7e41f1a08db3" providerId="LiveId" clId="{939A7DD9-CE71-4F8B-91B3-6DF1970240BD}" dt="2026-03-31T12:45:14.944" v="168" actId="20577"/>
          <ac:spMkLst>
            <pc:docMk/>
            <pc:sldMk cId="2589711438" sldId="423"/>
            <ac:spMk id="2" creationId="{158354EE-2AA8-5C51-05CD-8184A004D948}"/>
          </ac:spMkLst>
        </pc:spChg>
        <pc:picChg chg="add mod">
          <ac:chgData name="Nithish S J" userId="069e7e41f1a08db3" providerId="LiveId" clId="{939A7DD9-CE71-4F8B-91B3-6DF1970240BD}" dt="2026-03-31T12:45:51.633" v="224" actId="1076"/>
          <ac:picMkLst>
            <pc:docMk/>
            <pc:sldMk cId="2589711438" sldId="423"/>
            <ac:picMk id="4" creationId="{6DBBC4B3-2232-E910-1493-3B8692297CD7}"/>
          </ac:picMkLst>
        </pc:picChg>
      </pc:sldChg>
      <pc:sldChg chg="addSp delSp modSp add mod">
        <pc:chgData name="Nithish S J" userId="069e7e41f1a08db3" providerId="LiveId" clId="{939A7DD9-CE71-4F8B-91B3-6DF1970240BD}" dt="2026-04-06T17:36:54.639" v="439" actId="14826"/>
        <pc:sldMkLst>
          <pc:docMk/>
          <pc:sldMk cId="2447639957" sldId="424"/>
        </pc:sldMkLst>
        <pc:spChg chg="mod">
          <ac:chgData name="Nithish S J" userId="069e7e41f1a08db3" providerId="LiveId" clId="{939A7DD9-CE71-4F8B-91B3-6DF1970240BD}" dt="2026-03-31T12:45:58.510" v="227" actId="20577"/>
          <ac:spMkLst>
            <pc:docMk/>
            <pc:sldMk cId="2447639957" sldId="424"/>
            <ac:spMk id="2" creationId="{60268D60-6E8E-A9E4-7474-7E14B639E4EA}"/>
          </ac:spMkLst>
        </pc:spChg>
        <pc:picChg chg="add mod">
          <ac:chgData name="Nithish S J" userId="069e7e41f1a08db3" providerId="LiveId" clId="{939A7DD9-CE71-4F8B-91B3-6DF1970240BD}" dt="2026-04-06T17:36:54.639" v="439" actId="14826"/>
          <ac:picMkLst>
            <pc:docMk/>
            <pc:sldMk cId="2447639957" sldId="424"/>
            <ac:picMk id="3" creationId="{2B895CC3-DFE3-745A-9C60-A15E50841E49}"/>
          </ac:picMkLst>
        </pc:picChg>
      </pc:sldChg>
      <pc:sldChg chg="addSp delSp modSp add mod">
        <pc:chgData name="Nithish S J" userId="069e7e41f1a08db3" providerId="LiveId" clId="{939A7DD9-CE71-4F8B-91B3-6DF1970240BD}" dt="2026-04-06T17:37:04.910" v="440" actId="14826"/>
        <pc:sldMkLst>
          <pc:docMk/>
          <pc:sldMk cId="246466812" sldId="425"/>
        </pc:sldMkLst>
        <pc:spChg chg="mod">
          <ac:chgData name="Nithish S J" userId="069e7e41f1a08db3" providerId="LiveId" clId="{939A7DD9-CE71-4F8B-91B3-6DF1970240BD}" dt="2026-03-31T12:46:42.827" v="238" actId="20577"/>
          <ac:spMkLst>
            <pc:docMk/>
            <pc:sldMk cId="246466812" sldId="425"/>
            <ac:spMk id="2" creationId="{EC5933B6-4B8B-4950-052B-867D9FF2A4A9}"/>
          </ac:spMkLst>
        </pc:spChg>
        <pc:picChg chg="add mod">
          <ac:chgData name="Nithish S J" userId="069e7e41f1a08db3" providerId="LiveId" clId="{939A7DD9-CE71-4F8B-91B3-6DF1970240BD}" dt="2026-04-06T17:37:04.910" v="440" actId="14826"/>
          <ac:picMkLst>
            <pc:docMk/>
            <pc:sldMk cId="246466812" sldId="425"/>
            <ac:picMk id="4" creationId="{309DD877-3E8C-43FB-97BE-4F48F2B9E76E}"/>
          </ac:picMkLst>
        </pc:picChg>
      </pc:sldChg>
      <pc:sldChg chg="modSp add mod">
        <pc:chgData name="Nithish S J" userId="069e7e41f1a08db3" providerId="LiveId" clId="{939A7DD9-CE71-4F8B-91B3-6DF1970240BD}" dt="2026-04-01T10:05:37.893" v="417"/>
        <pc:sldMkLst>
          <pc:docMk/>
          <pc:sldMk cId="2763565263" sldId="426"/>
        </pc:sldMkLst>
        <pc:spChg chg="mod">
          <ac:chgData name="Nithish S J" userId="069e7e41f1a08db3" providerId="LiveId" clId="{939A7DD9-CE71-4F8B-91B3-6DF1970240BD}" dt="2026-04-01T10:05:37.893" v="417"/>
          <ac:spMkLst>
            <pc:docMk/>
            <pc:sldMk cId="2763565263" sldId="426"/>
            <ac:spMk id="5" creationId="{E56AF049-0EB2-9761-244D-FA777EEE0905}"/>
          </ac:spMkLst>
        </pc:spChg>
        <pc:picChg chg="mod">
          <ac:chgData name="Nithish S J" userId="069e7e41f1a08db3" providerId="LiveId" clId="{939A7DD9-CE71-4F8B-91B3-6DF1970240BD}" dt="2026-03-31T12:51:34.553" v="291" actId="14826"/>
          <ac:picMkLst>
            <pc:docMk/>
            <pc:sldMk cId="2763565263" sldId="426"/>
            <ac:picMk id="3" creationId="{1CB31119-6A74-B897-D2FD-6D712ADD9671}"/>
          </ac:picMkLst>
        </pc:picChg>
      </pc:sldChg>
      <pc:sldChg chg="modSp add mod">
        <pc:chgData name="Nithish S J" userId="069e7e41f1a08db3" providerId="LiveId" clId="{939A7DD9-CE71-4F8B-91B3-6DF1970240BD}" dt="2026-04-01T10:05:24.832" v="412"/>
        <pc:sldMkLst>
          <pc:docMk/>
          <pc:sldMk cId="1679658985" sldId="427"/>
        </pc:sldMkLst>
        <pc:spChg chg="mod">
          <ac:chgData name="Nithish S J" userId="069e7e41f1a08db3" providerId="LiveId" clId="{939A7DD9-CE71-4F8B-91B3-6DF1970240BD}" dt="2026-04-01T10:05:24.832" v="412"/>
          <ac:spMkLst>
            <pc:docMk/>
            <pc:sldMk cId="1679658985" sldId="427"/>
            <ac:spMk id="5" creationId="{C7B9816F-0720-0777-E8C7-E6AA5372F194}"/>
          </ac:spMkLst>
        </pc:spChg>
        <pc:picChg chg="mod">
          <ac:chgData name="Nithish S J" userId="069e7e41f1a08db3" providerId="LiveId" clId="{939A7DD9-CE71-4F8B-91B3-6DF1970240BD}" dt="2026-03-31T12:52:11.683" v="298" actId="14826"/>
          <ac:picMkLst>
            <pc:docMk/>
            <pc:sldMk cId="1679658985" sldId="427"/>
            <ac:picMk id="3" creationId="{0787F38D-68B2-F458-320E-BE2283F007DE}"/>
          </ac:picMkLst>
        </pc:picChg>
      </pc:sldChg>
      <pc:sldChg chg="modSp add mod">
        <pc:chgData name="Nithish S J" userId="069e7e41f1a08db3" providerId="LiveId" clId="{939A7DD9-CE71-4F8B-91B3-6DF1970240BD}" dt="2026-04-01T10:06:02.364" v="422"/>
        <pc:sldMkLst>
          <pc:docMk/>
          <pc:sldMk cId="795498868" sldId="428"/>
        </pc:sldMkLst>
        <pc:spChg chg="mod">
          <ac:chgData name="Nithish S J" userId="069e7e41f1a08db3" providerId="LiveId" clId="{939A7DD9-CE71-4F8B-91B3-6DF1970240BD}" dt="2026-04-01T10:06:02.364" v="422"/>
          <ac:spMkLst>
            <pc:docMk/>
            <pc:sldMk cId="795498868" sldId="428"/>
            <ac:spMk id="6" creationId="{2D95042B-A95E-659C-C24D-CB5574F0E146}"/>
          </ac:spMkLst>
        </pc:spChg>
        <pc:picChg chg="mod">
          <ac:chgData name="Nithish S J" userId="069e7e41f1a08db3" providerId="LiveId" clId="{939A7DD9-CE71-4F8B-91B3-6DF1970240BD}" dt="2026-03-31T12:53:07.797" v="306" actId="14826"/>
          <ac:picMkLst>
            <pc:docMk/>
            <pc:sldMk cId="795498868" sldId="428"/>
            <ac:picMk id="3" creationId="{9DF27BEC-6430-050D-74AE-14A53B49A43E}"/>
          </ac:picMkLst>
        </pc:picChg>
      </pc:sldChg>
      <pc:sldChg chg="modSp add mod">
        <pc:chgData name="Nithish S J" userId="069e7e41f1a08db3" providerId="LiveId" clId="{939A7DD9-CE71-4F8B-91B3-6DF1970240BD}" dt="2026-03-31T12:55:31.916" v="329"/>
        <pc:sldMkLst>
          <pc:docMk/>
          <pc:sldMk cId="1694620411" sldId="429"/>
        </pc:sldMkLst>
        <pc:spChg chg="mod">
          <ac:chgData name="Nithish S J" userId="069e7e41f1a08db3" providerId="LiveId" clId="{939A7DD9-CE71-4F8B-91B3-6DF1970240BD}" dt="2026-03-31T12:55:02.194" v="324"/>
          <ac:spMkLst>
            <pc:docMk/>
            <pc:sldMk cId="1694620411" sldId="429"/>
            <ac:spMk id="2" creationId="{B0658394-7F82-24A7-1C98-C30BBFFA94FD}"/>
          </ac:spMkLst>
        </pc:spChg>
        <pc:spChg chg="mod">
          <ac:chgData name="Nithish S J" userId="069e7e41f1a08db3" providerId="LiveId" clId="{939A7DD9-CE71-4F8B-91B3-6DF1970240BD}" dt="2026-03-31T12:55:31.916" v="329"/>
          <ac:spMkLst>
            <pc:docMk/>
            <pc:sldMk cId="1694620411" sldId="429"/>
            <ac:spMk id="3" creationId="{4740CCCD-A611-7D1A-8365-4F10D27F3389}"/>
          </ac:spMkLst>
        </pc:spChg>
      </pc:sldChg>
      <pc:sldChg chg="modSp add mod">
        <pc:chgData name="Nithish S J" userId="069e7e41f1a08db3" providerId="LiveId" clId="{939A7DD9-CE71-4F8B-91B3-6DF1970240BD}" dt="2026-03-31T13:04:24.050" v="389" actId="1036"/>
        <pc:sldMkLst>
          <pc:docMk/>
          <pc:sldMk cId="727428214" sldId="430"/>
        </pc:sldMkLst>
        <pc:spChg chg="mod">
          <ac:chgData name="Nithish S J" userId="069e7e41f1a08db3" providerId="LiveId" clId="{939A7DD9-CE71-4F8B-91B3-6DF1970240BD}" dt="2026-03-31T13:04:24.050" v="389" actId="1036"/>
          <ac:spMkLst>
            <pc:docMk/>
            <pc:sldMk cId="727428214" sldId="430"/>
            <ac:spMk id="2" creationId="{A60EA0C2-0013-70D5-8DFB-F3FFBB5DF012}"/>
          </ac:spMkLst>
        </pc:spChg>
      </pc:sldChg>
      <pc:sldChg chg="add ord">
        <pc:chgData name="Nithish S J" userId="069e7e41f1a08db3" providerId="LiveId" clId="{939A7DD9-CE71-4F8B-91B3-6DF1970240BD}" dt="2026-04-06T05:07:10.791" v="438"/>
        <pc:sldMkLst>
          <pc:docMk/>
          <pc:sldMk cId="3503941830" sldId="432"/>
        </pc:sldMkLst>
      </pc:sldChg>
      <pc:sldChg chg="modSp add">
        <pc:chgData name="Nithish S J" userId="069e7e41f1a08db3" providerId="LiveId" clId="{939A7DD9-CE71-4F8B-91B3-6DF1970240BD}" dt="2026-03-31T13:04:52.785" v="394" actId="14826"/>
        <pc:sldMkLst>
          <pc:docMk/>
          <pc:sldMk cId="2245530571" sldId="433"/>
        </pc:sldMkLst>
        <pc:picChg chg="mod">
          <ac:chgData name="Nithish S J" userId="069e7e41f1a08db3" providerId="LiveId" clId="{939A7DD9-CE71-4F8B-91B3-6DF1970240BD}" dt="2026-03-31T13:04:52.785" v="394" actId="14826"/>
          <ac:picMkLst>
            <pc:docMk/>
            <pc:sldMk cId="2245530571" sldId="433"/>
            <ac:picMk id="1026" creationId="{8DDD8BC9-DEB7-63F3-32C3-ABB94CC1A582}"/>
          </ac:picMkLst>
        </pc:picChg>
      </pc:sldChg>
      <pc:sldChg chg="modSp add">
        <pc:chgData name="Nithish S J" userId="069e7e41f1a08db3" providerId="LiveId" clId="{939A7DD9-CE71-4F8B-91B3-6DF1970240BD}" dt="2026-03-31T13:05:01.577" v="395" actId="14826"/>
        <pc:sldMkLst>
          <pc:docMk/>
          <pc:sldMk cId="478758806" sldId="434"/>
        </pc:sldMkLst>
        <pc:picChg chg="mod">
          <ac:chgData name="Nithish S J" userId="069e7e41f1a08db3" providerId="LiveId" clId="{939A7DD9-CE71-4F8B-91B3-6DF1970240BD}" dt="2026-03-31T13:05:01.577" v="395" actId="14826"/>
          <ac:picMkLst>
            <pc:docMk/>
            <pc:sldMk cId="478758806" sldId="434"/>
            <ac:picMk id="1026" creationId="{A70ED764-9177-6354-0DB2-633F5E55A73F}"/>
          </ac:picMkLst>
        </pc:picChg>
      </pc:sldChg>
      <pc:sldChg chg="modSp mod">
        <pc:chgData name="Nithish S J" userId="069e7e41f1a08db3" providerId="LiveId" clId="{939A7DD9-CE71-4F8B-91B3-6DF1970240BD}" dt="2026-04-01T10:06:14.359" v="427"/>
        <pc:sldMkLst>
          <pc:docMk/>
          <pc:sldMk cId="3723336701" sldId="435"/>
        </pc:sldMkLst>
        <pc:spChg chg="mod">
          <ac:chgData name="Nithish S J" userId="069e7e41f1a08db3" providerId="LiveId" clId="{939A7DD9-CE71-4F8B-91B3-6DF1970240BD}" dt="2026-04-01T10:06:14.359" v="427"/>
          <ac:spMkLst>
            <pc:docMk/>
            <pc:sldMk cId="3723336701" sldId="435"/>
            <ac:spMk id="5" creationId="{11EC2659-7C86-5CDC-F934-7DD44EAE9A2B}"/>
          </ac:spMkLst>
        </pc:spChg>
      </pc:sldChg>
      <pc:sldChg chg="modSp mod">
        <pc:chgData name="Nithish S J" userId="069e7e41f1a08db3" providerId="LiveId" clId="{939A7DD9-CE71-4F8B-91B3-6DF1970240BD}" dt="2026-04-01T10:08:31.793" v="432"/>
        <pc:sldMkLst>
          <pc:docMk/>
          <pc:sldMk cId="2321328353" sldId="436"/>
        </pc:sldMkLst>
        <pc:spChg chg="mod">
          <ac:chgData name="Nithish S J" userId="069e7e41f1a08db3" providerId="LiveId" clId="{939A7DD9-CE71-4F8B-91B3-6DF1970240BD}" dt="2026-04-01T10:08:31.793" v="432"/>
          <ac:spMkLst>
            <pc:docMk/>
            <pc:sldMk cId="2321328353" sldId="436"/>
            <ac:spMk id="5" creationId="{21CDC86E-22F1-93A1-7C68-9A1B2255DCFE}"/>
          </ac:spMkLst>
        </pc:spChg>
      </pc:sldChg>
      <pc:sldChg chg="add">
        <pc:chgData name="Nithish S J" userId="069e7e41f1a08db3" providerId="LiveId" clId="{939A7DD9-CE71-4F8B-91B3-6DF1970240BD}" dt="2026-04-06T05:03:27.903" v="433"/>
        <pc:sldMkLst>
          <pc:docMk/>
          <pc:sldMk cId="0" sldId="43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4187E4-22B6-40AF-ACEB-8B73AD29C1D4}" type="datetimeFigureOut">
              <a:rPr lang="en-IN" smtClean="0"/>
              <a:t>06-04-2026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5E3552-DA10-4DB6-8318-69804BA599EF}" type="slidenum">
              <a:rPr lang="en-IN" smtClean="0"/>
              <a:t>‹#›</a:t>
            </a:fld>
            <a:endParaRPr lang="en-IN"/>
          </a:p>
        </p:txBody>
      </p:sp>
    </p:spTree>
    <p:extLst>
      <p:ext uri="{BB962C8B-B14F-4D97-AF65-F5344CB8AC3E}">
        <p14:creationId xmlns:p14="http://schemas.microsoft.com/office/powerpoint/2010/main" val="1434621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05E3552-DA10-4DB6-8318-69804BA599EF}" type="slidenum">
              <a:rPr lang="en-IN" smtClean="0"/>
              <a:t>6</a:t>
            </a:fld>
            <a:endParaRPr lang="en-IN"/>
          </a:p>
        </p:txBody>
      </p:sp>
    </p:spTree>
    <p:extLst>
      <p:ext uri="{BB962C8B-B14F-4D97-AF65-F5344CB8AC3E}">
        <p14:creationId xmlns:p14="http://schemas.microsoft.com/office/powerpoint/2010/main" val="1392573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40B57-72A6-ECF1-C77A-34BA529F4E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3802F1-718B-BE6F-D7EA-0454A19C4D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AF8AB1-1189-B278-831F-45483C9A064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D7C03F4-2856-7E01-83DD-26FE446AE466}"/>
              </a:ext>
            </a:extLst>
          </p:cNvPr>
          <p:cNvSpPr>
            <a:spLocks noGrp="1"/>
          </p:cNvSpPr>
          <p:nvPr>
            <p:ph type="sldNum" sz="quarter" idx="5"/>
          </p:nvPr>
        </p:nvSpPr>
        <p:spPr/>
        <p:txBody>
          <a:bodyPr/>
          <a:lstStyle/>
          <a:p>
            <a:fld id="{405E3552-DA10-4DB6-8318-69804BA599EF}" type="slidenum">
              <a:rPr lang="en-IN" smtClean="0"/>
              <a:t>7</a:t>
            </a:fld>
            <a:endParaRPr lang="en-IN"/>
          </a:p>
        </p:txBody>
      </p:sp>
    </p:spTree>
    <p:extLst>
      <p:ext uri="{BB962C8B-B14F-4D97-AF65-F5344CB8AC3E}">
        <p14:creationId xmlns:p14="http://schemas.microsoft.com/office/powerpoint/2010/main" val="54980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A7208-0850-E8B1-5AC0-694CC0319B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9179F2-FFE4-8451-3B9B-1B3854F04B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99122E-717A-9396-AECF-52C78EECB3D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527BADF-75F6-F29C-0CDC-10CF67F07AFF}"/>
              </a:ext>
            </a:extLst>
          </p:cNvPr>
          <p:cNvSpPr>
            <a:spLocks noGrp="1"/>
          </p:cNvSpPr>
          <p:nvPr>
            <p:ph type="sldNum" sz="quarter" idx="5"/>
          </p:nvPr>
        </p:nvSpPr>
        <p:spPr/>
        <p:txBody>
          <a:bodyPr/>
          <a:lstStyle/>
          <a:p>
            <a:fld id="{405E3552-DA10-4DB6-8318-69804BA599EF}" type="slidenum">
              <a:rPr lang="en-IN" smtClean="0"/>
              <a:t>8</a:t>
            </a:fld>
            <a:endParaRPr lang="en-IN"/>
          </a:p>
        </p:txBody>
      </p:sp>
    </p:spTree>
    <p:extLst>
      <p:ext uri="{BB962C8B-B14F-4D97-AF65-F5344CB8AC3E}">
        <p14:creationId xmlns:p14="http://schemas.microsoft.com/office/powerpoint/2010/main" val="42492784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05E3552-DA10-4DB6-8318-69804BA599EF}" type="slidenum">
              <a:rPr lang="en-IN" smtClean="0"/>
              <a:t>9</a:t>
            </a:fld>
            <a:endParaRPr lang="en-IN"/>
          </a:p>
        </p:txBody>
      </p:sp>
    </p:spTree>
    <p:extLst>
      <p:ext uri="{BB962C8B-B14F-4D97-AF65-F5344CB8AC3E}">
        <p14:creationId xmlns:p14="http://schemas.microsoft.com/office/powerpoint/2010/main" val="41067176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DB44C-BA53-311D-83D9-8751D30CD7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7214F2-0CDF-F04E-EA1A-87E7EC78D7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7BFFEF-0F5F-4686-B190-B78CFF59173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E42D1E1-7B0B-7426-383E-972CC01143F3}"/>
              </a:ext>
            </a:extLst>
          </p:cNvPr>
          <p:cNvSpPr>
            <a:spLocks noGrp="1"/>
          </p:cNvSpPr>
          <p:nvPr>
            <p:ph type="sldNum" sz="quarter" idx="5"/>
          </p:nvPr>
        </p:nvSpPr>
        <p:spPr/>
        <p:txBody>
          <a:bodyPr/>
          <a:lstStyle/>
          <a:p>
            <a:fld id="{405E3552-DA10-4DB6-8318-69804BA599EF}" type="slidenum">
              <a:rPr lang="en-IN" smtClean="0"/>
              <a:t>11</a:t>
            </a:fld>
            <a:endParaRPr lang="en-IN"/>
          </a:p>
        </p:txBody>
      </p:sp>
    </p:spTree>
    <p:extLst>
      <p:ext uri="{BB962C8B-B14F-4D97-AF65-F5344CB8AC3E}">
        <p14:creationId xmlns:p14="http://schemas.microsoft.com/office/powerpoint/2010/main" val="28775420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7BDA393-C41B-4821-A025-9B0380969F77}"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63FACE-6D62-4DDD-94A0-3E44B55AD4F2}" type="slidenum">
              <a:rPr lang="en-US" smtClean="0"/>
              <a:pPr/>
              <a:t>‹#›</a:t>
            </a:fld>
            <a:endParaRPr lang="en-US"/>
          </a:p>
        </p:txBody>
      </p:sp>
    </p:spTree>
    <p:extLst>
      <p:ext uri="{BB962C8B-B14F-4D97-AF65-F5344CB8AC3E}">
        <p14:creationId xmlns:p14="http://schemas.microsoft.com/office/powerpoint/2010/main" val="807125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BDA393-C41B-4821-A025-9B0380969F77}"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63FACE-6D62-4DDD-94A0-3E44B55AD4F2}" type="slidenum">
              <a:rPr lang="en-US" smtClean="0"/>
              <a:pPr/>
              <a:t>‹#›</a:t>
            </a:fld>
            <a:endParaRPr lang="en-US"/>
          </a:p>
        </p:txBody>
      </p:sp>
    </p:spTree>
    <p:extLst>
      <p:ext uri="{BB962C8B-B14F-4D97-AF65-F5344CB8AC3E}">
        <p14:creationId xmlns:p14="http://schemas.microsoft.com/office/powerpoint/2010/main" val="666916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BDA393-C41B-4821-A025-9B0380969F77}"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63FACE-6D62-4DDD-94A0-3E44B55AD4F2}" type="slidenum">
              <a:rPr lang="en-US" smtClean="0"/>
              <a:pPr/>
              <a:t>‹#›</a:t>
            </a:fld>
            <a:endParaRPr lang="en-US"/>
          </a:p>
        </p:txBody>
      </p:sp>
    </p:spTree>
    <p:extLst>
      <p:ext uri="{BB962C8B-B14F-4D97-AF65-F5344CB8AC3E}">
        <p14:creationId xmlns:p14="http://schemas.microsoft.com/office/powerpoint/2010/main" val="2572301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BDA393-C41B-4821-A025-9B0380969F77}"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63FACE-6D62-4DDD-94A0-3E44B55AD4F2}" type="slidenum">
              <a:rPr lang="en-US" smtClean="0"/>
              <a:pPr/>
              <a:t>‹#›</a:t>
            </a:fld>
            <a:endParaRPr lang="en-US"/>
          </a:p>
        </p:txBody>
      </p:sp>
    </p:spTree>
    <p:extLst>
      <p:ext uri="{BB962C8B-B14F-4D97-AF65-F5344CB8AC3E}">
        <p14:creationId xmlns:p14="http://schemas.microsoft.com/office/powerpoint/2010/main" val="1348399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7BDA393-C41B-4821-A025-9B0380969F77}" type="datetimeFigureOut">
              <a:rPr lang="en-US" smtClean="0"/>
              <a:pPr/>
              <a:t>4/6/2026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63FACE-6D62-4DDD-94A0-3E44B55AD4F2}" type="slidenum">
              <a:rPr lang="en-US" smtClean="0"/>
              <a:pPr/>
              <a:t>‹#›</a:t>
            </a:fld>
            <a:endParaRPr lang="en-US"/>
          </a:p>
        </p:txBody>
      </p:sp>
    </p:spTree>
    <p:extLst>
      <p:ext uri="{BB962C8B-B14F-4D97-AF65-F5344CB8AC3E}">
        <p14:creationId xmlns:p14="http://schemas.microsoft.com/office/powerpoint/2010/main" val="380148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7BDA393-C41B-4821-A025-9B0380969F77}" type="datetimeFigureOut">
              <a:rPr lang="en-US" smtClean="0"/>
              <a:pPr/>
              <a:t>4/6/2026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63FACE-6D62-4DDD-94A0-3E44B55AD4F2}" type="slidenum">
              <a:rPr lang="en-US" smtClean="0"/>
              <a:pPr/>
              <a:t>‹#›</a:t>
            </a:fld>
            <a:endParaRPr lang="en-US"/>
          </a:p>
        </p:txBody>
      </p:sp>
    </p:spTree>
    <p:extLst>
      <p:ext uri="{BB962C8B-B14F-4D97-AF65-F5344CB8AC3E}">
        <p14:creationId xmlns:p14="http://schemas.microsoft.com/office/powerpoint/2010/main" val="312937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BDA393-C41B-4821-A025-9B0380969F77}" type="datetimeFigureOut">
              <a:rPr lang="en-US" smtClean="0"/>
              <a:pPr/>
              <a:t>4/6/2026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63FACE-6D62-4DDD-94A0-3E44B55AD4F2}" type="slidenum">
              <a:rPr lang="en-US" smtClean="0"/>
              <a:pPr/>
              <a:t>‹#›</a:t>
            </a:fld>
            <a:endParaRPr lang="en-US"/>
          </a:p>
        </p:txBody>
      </p:sp>
    </p:spTree>
    <p:extLst>
      <p:ext uri="{BB962C8B-B14F-4D97-AF65-F5344CB8AC3E}">
        <p14:creationId xmlns:p14="http://schemas.microsoft.com/office/powerpoint/2010/main" val="129889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BDA393-C41B-4821-A025-9B0380969F77}"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63FACE-6D62-4DDD-94A0-3E44B55AD4F2}" type="slidenum">
              <a:rPr lang="en-US" smtClean="0"/>
              <a:pPr/>
              <a:t>‹#›</a:t>
            </a:fld>
            <a:endParaRPr lang="en-US"/>
          </a:p>
        </p:txBody>
      </p:sp>
    </p:spTree>
    <p:extLst>
      <p:ext uri="{BB962C8B-B14F-4D97-AF65-F5344CB8AC3E}">
        <p14:creationId xmlns:p14="http://schemas.microsoft.com/office/powerpoint/2010/main" val="2077286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BDA393-C41B-4821-A025-9B0380969F77}"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63FACE-6D62-4DDD-94A0-3E44B55AD4F2}" type="slidenum">
              <a:rPr lang="en-US" smtClean="0"/>
              <a:pPr/>
              <a:t>‹#›</a:t>
            </a:fld>
            <a:endParaRPr lang="en-US"/>
          </a:p>
        </p:txBody>
      </p:sp>
    </p:spTree>
    <p:extLst>
      <p:ext uri="{BB962C8B-B14F-4D97-AF65-F5344CB8AC3E}">
        <p14:creationId xmlns:p14="http://schemas.microsoft.com/office/powerpoint/2010/main" val="123781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BDA393-C41B-4821-A025-9B0380969F77}"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63FACE-6D62-4DDD-94A0-3E44B55AD4F2}" type="slidenum">
              <a:rPr lang="en-US" smtClean="0"/>
              <a:pPr/>
              <a:t>‹#›</a:t>
            </a:fld>
            <a:endParaRPr lang="en-US"/>
          </a:p>
        </p:txBody>
      </p:sp>
    </p:spTree>
    <p:extLst>
      <p:ext uri="{BB962C8B-B14F-4D97-AF65-F5344CB8AC3E}">
        <p14:creationId xmlns:p14="http://schemas.microsoft.com/office/powerpoint/2010/main" val="1502003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BDA393-C41B-4821-A025-9B0380969F77}"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63FACE-6D62-4DDD-94A0-3E44B55AD4F2}" type="slidenum">
              <a:rPr lang="en-US" smtClean="0"/>
              <a:pPr/>
              <a:t>‹#›</a:t>
            </a:fld>
            <a:endParaRPr lang="en-US"/>
          </a:p>
        </p:txBody>
      </p:sp>
    </p:spTree>
    <p:extLst>
      <p:ext uri="{BB962C8B-B14F-4D97-AF65-F5344CB8AC3E}">
        <p14:creationId xmlns:p14="http://schemas.microsoft.com/office/powerpoint/2010/main" val="1570941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BDA393-C41B-4821-A025-9B0380969F77}" type="datetimeFigureOut">
              <a:rPr lang="en-US" smtClean="0"/>
              <a:pPr/>
              <a:t>4/6/2026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63FACE-6D62-4DDD-94A0-3E44B55AD4F2}" type="slidenum">
              <a:rPr lang="en-US" smtClean="0"/>
              <a:pPr/>
              <a:t>‹#›</a:t>
            </a:fld>
            <a:endParaRPr lang="en-US"/>
          </a:p>
        </p:txBody>
      </p:sp>
    </p:spTree>
    <p:extLst>
      <p:ext uri="{BB962C8B-B14F-4D97-AF65-F5344CB8AC3E}">
        <p14:creationId xmlns:p14="http://schemas.microsoft.com/office/powerpoint/2010/main" val="42757165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2BF0DF-DC0A-45FE-85D1-A95D3DA3DF4F}"/>
              </a:ext>
            </a:extLst>
          </p:cNvPr>
          <p:cNvSpPr/>
          <p:nvPr/>
        </p:nvSpPr>
        <p:spPr>
          <a:xfrm>
            <a:off x="377372" y="366824"/>
            <a:ext cx="11524342" cy="1969770"/>
          </a:xfrm>
          <a:prstGeom prst="rect">
            <a:avLst/>
          </a:prstGeom>
        </p:spPr>
        <p:txBody>
          <a:bodyPr wrap="square">
            <a:spAutoFit/>
          </a:bodyPr>
          <a:lstStyle/>
          <a:p>
            <a:pPr algn="ctr"/>
            <a:r>
              <a:rPr lang="en-US" sz="2400" b="1" dirty="0">
                <a:latin typeface="Times New Roman" panose="02020603050405020304" pitchFamily="18" charset="0"/>
                <a:cs typeface="Times New Roman" panose="02020603050405020304" pitchFamily="18" charset="0"/>
              </a:rPr>
              <a:t>KONGUNADU COLLEGE OF ENGINEERING &amp; TECHNOLOGY </a:t>
            </a:r>
            <a:br>
              <a:rPr lang="en-US"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(AUTONOMOUS)</a:t>
            </a:r>
          </a:p>
          <a:p>
            <a:pPr algn="ctr"/>
            <a:r>
              <a:rPr lang="en-IN" b="1" dirty="0">
                <a:latin typeface="Times New Roman" panose="02020603050405020304" pitchFamily="18" charset="0"/>
                <a:cs typeface="Times New Roman" panose="02020603050405020304" pitchFamily="18" charset="0"/>
              </a:rPr>
              <a:t>(          (Approved by AICTE, Accredited by NBA (CSE,ECE,EEE &amp;MECH) and NAAC &amp; Affiliated by Anna University)</a:t>
            </a:r>
            <a:br>
              <a:rPr lang="en-IN"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NAMAKKAL- TRICHY MAIN ROAD, THOTTIAM,TRICHY</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DEPARTMENT OF COMPUTER SCIENCE AND ENGINEERING</a:t>
            </a:r>
            <a:endParaRPr lang="en-US" sz="2000" dirty="0"/>
          </a:p>
        </p:txBody>
      </p:sp>
      <p:sp>
        <p:nvSpPr>
          <p:cNvPr id="3" name="Rectangle 2">
            <a:extLst>
              <a:ext uri="{FF2B5EF4-FFF2-40B4-BE49-F238E27FC236}">
                <a16:creationId xmlns:a16="http://schemas.microsoft.com/office/drawing/2014/main" id="{FC45EA67-B48F-45D9-844B-C5C2F31AAF5C}"/>
              </a:ext>
            </a:extLst>
          </p:cNvPr>
          <p:cNvSpPr/>
          <p:nvPr/>
        </p:nvSpPr>
        <p:spPr>
          <a:xfrm>
            <a:off x="1109240" y="2524542"/>
            <a:ext cx="10251186" cy="4893647"/>
          </a:xfrm>
          <a:prstGeom prst="rect">
            <a:avLst/>
          </a:prstGeom>
        </p:spPr>
        <p:txBody>
          <a:bodyPr wrap="square">
            <a:spAutoFit/>
          </a:bodyPr>
          <a:lstStyle/>
          <a:p>
            <a:pPr algn="ctr"/>
            <a:r>
              <a:rPr lang="en-IN" sz="2400" b="1" dirty="0">
                <a:solidFill>
                  <a:srgbClr val="FF0000"/>
                </a:solidFill>
                <a:latin typeface="Times New Roman" panose="02020603050405020304" pitchFamily="18" charset="0"/>
                <a:cs typeface="Times New Roman" panose="02020603050405020304" pitchFamily="18" charset="0"/>
              </a:rPr>
              <a:t>END SEMESTER UG-PROJECT</a:t>
            </a:r>
          </a:p>
          <a:p>
            <a:pPr algn="ctr"/>
            <a:r>
              <a:rPr lang="en-IN" sz="2400" b="1" dirty="0">
                <a:solidFill>
                  <a:srgbClr val="FF0000"/>
                </a:solidFill>
                <a:latin typeface="Times New Roman" panose="02020603050405020304" pitchFamily="18" charset="0"/>
                <a:cs typeface="Times New Roman" panose="02020603050405020304" pitchFamily="18" charset="0"/>
              </a:rPr>
              <a:t>VIVA VOCE</a:t>
            </a:r>
          </a:p>
          <a:p>
            <a:pPr indent="1073150">
              <a:lnSpc>
                <a:spcPct val="150000"/>
              </a:lnSpc>
            </a:pPr>
            <a:r>
              <a:rPr lang="en-US" sz="2400" b="1" dirty="0">
                <a:latin typeface="Times New Roman" panose="02020603050405020304" pitchFamily="18" charset="0"/>
                <a:cs typeface="Times New Roman" panose="02020603050405020304" pitchFamily="18" charset="0"/>
              </a:rPr>
              <a:t>PROJECT GUIDE :</a:t>
            </a:r>
          </a:p>
          <a:p>
            <a:pPr>
              <a:lnSpc>
                <a:spcPct val="150000"/>
              </a:lnSpc>
            </a:pPr>
            <a:r>
              <a:rPr lang="en-US" sz="2400" b="1" dirty="0">
                <a:latin typeface="Times New Roman" panose="02020603050405020304" pitchFamily="18" charset="0"/>
                <a:cs typeface="Times New Roman" panose="02020603050405020304" pitchFamily="18" charset="0"/>
              </a:rPr>
              <a:t>                      	Dr. A. RAJAPRABU , AP/CSE</a:t>
            </a:r>
          </a:p>
          <a:p>
            <a:pPr indent="990600">
              <a:lnSpc>
                <a:spcPct val="150000"/>
              </a:lnSpc>
            </a:pPr>
            <a:r>
              <a:rPr lang="en-US" sz="2400" b="1" dirty="0">
                <a:latin typeface="Times New Roman" panose="02020603050405020304" pitchFamily="18" charset="0"/>
                <a:cs typeface="Times New Roman" panose="02020603050405020304" pitchFamily="18" charset="0"/>
              </a:rPr>
              <a:t> PREPARED BY:</a:t>
            </a:r>
          </a:p>
          <a:p>
            <a:pPr>
              <a:lnSpc>
                <a:spcPct val="150000"/>
              </a:lnSpc>
            </a:pPr>
            <a:r>
              <a:rPr lang="en-US" sz="2400" dirty="0">
                <a:latin typeface="Times New Roman" panose="02020603050405020304" pitchFamily="18" charset="0"/>
                <a:cs typeface="Times New Roman" panose="02020603050405020304" pitchFamily="18" charset="0"/>
              </a:rPr>
              <a:t>                         DHANARAJ R           (621322104019)</a:t>
            </a:r>
          </a:p>
          <a:p>
            <a:pPr>
              <a:lnSpc>
                <a:spcPct val="150000"/>
              </a:lnSpc>
            </a:pPr>
            <a:r>
              <a:rPr lang="en-US" sz="2400" dirty="0">
                <a:latin typeface="Times New Roman" panose="02020603050405020304" pitchFamily="18" charset="0"/>
                <a:cs typeface="Times New Roman" panose="02020603050405020304" pitchFamily="18" charset="0"/>
              </a:rPr>
              <a:t>                         GOWTHAM S            (621322104029)</a:t>
            </a:r>
          </a:p>
          <a:p>
            <a:pPr>
              <a:lnSpc>
                <a:spcPct val="150000"/>
              </a:lnSpc>
            </a:pPr>
            <a:r>
              <a:rPr lang="en-US" sz="2400" dirty="0">
                <a:latin typeface="Times New Roman" panose="02020603050405020304" pitchFamily="18" charset="0"/>
                <a:cs typeface="Times New Roman" panose="02020603050405020304" pitchFamily="18" charset="0"/>
              </a:rPr>
              <a:t>		 NITHISH S J               (621322104061)</a:t>
            </a:r>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a:t>
            </a:r>
            <a:endParaRPr lang="en-US" sz="2400" b="1" dirty="0"/>
          </a:p>
        </p:txBody>
      </p:sp>
      <p:pic>
        <p:nvPicPr>
          <p:cNvPr id="4" name="Picture 3">
            <a:extLst>
              <a:ext uri="{FF2B5EF4-FFF2-40B4-BE49-F238E27FC236}">
                <a16:creationId xmlns:a16="http://schemas.microsoft.com/office/drawing/2014/main" id="{2735C3CF-EDFE-455F-99B5-4DF7D2FF01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8900" y="170120"/>
            <a:ext cx="857250" cy="1524000"/>
          </a:xfrm>
          <a:prstGeom prst="rect">
            <a:avLst/>
          </a:prstGeom>
        </p:spPr>
      </p:pic>
      <p:sp>
        <p:nvSpPr>
          <p:cNvPr id="6" name="TextBox 5">
            <a:extLst>
              <a:ext uri="{FF2B5EF4-FFF2-40B4-BE49-F238E27FC236}">
                <a16:creationId xmlns:a16="http://schemas.microsoft.com/office/drawing/2014/main" id="{33BD4917-874F-3FD3-F200-EF741655B6C4}"/>
              </a:ext>
            </a:extLst>
          </p:cNvPr>
          <p:cNvSpPr txBox="1"/>
          <p:nvPr/>
        </p:nvSpPr>
        <p:spPr>
          <a:xfrm>
            <a:off x="8892073" y="3430174"/>
            <a:ext cx="2556588" cy="369332"/>
          </a:xfrm>
          <a:prstGeom prst="rect">
            <a:avLst/>
          </a:prstGeom>
          <a:noFill/>
          <a:ln>
            <a:solidFill>
              <a:schemeClr val="tx1"/>
            </a:solidFill>
          </a:ln>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BATCH NO: 13</a:t>
            </a:r>
          </a:p>
        </p:txBody>
      </p:sp>
    </p:spTree>
    <p:extLst>
      <p:ext uri="{BB962C8B-B14F-4D97-AF65-F5344CB8AC3E}">
        <p14:creationId xmlns:p14="http://schemas.microsoft.com/office/powerpoint/2010/main" val="3026355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52D40-1E95-4CFC-A37D-183A2F546AE8}"/>
              </a:ext>
            </a:extLst>
          </p:cNvPr>
          <p:cNvSpPr>
            <a:spLocks noGrp="1"/>
          </p:cNvSpPr>
          <p:nvPr>
            <p:ph type="ctrTitle"/>
          </p:nvPr>
        </p:nvSpPr>
        <p:spPr>
          <a:xfrm>
            <a:off x="1170709" y="2813396"/>
            <a:ext cx="9850582" cy="1231207"/>
          </a:xfrm>
        </p:spPr>
        <p:txBody>
          <a:bodyPr>
            <a:normAutofit fontScale="90000"/>
          </a:bodyPr>
          <a:lstStyle/>
          <a:p>
            <a:pPr>
              <a:lnSpc>
                <a:spcPct val="150000"/>
              </a:lnSpc>
            </a:pPr>
            <a:r>
              <a:rPr lang="en-US" sz="2800" b="1" dirty="0">
                <a:latin typeface="Times New Roman" panose="02020603050405020304" pitchFamily="18" charset="0"/>
                <a:cs typeface="Times New Roman" panose="02020603050405020304" pitchFamily="18" charset="0"/>
              </a:rPr>
              <a:t>EYE-GAZE CONTROLLED WHEELCHAIR USING MACHINE LEARNING AND DEEP LEARNING APPROACH</a:t>
            </a:r>
          </a:p>
        </p:txBody>
      </p:sp>
    </p:spTree>
    <p:extLst>
      <p:ext uri="{BB962C8B-B14F-4D97-AF65-F5344CB8AC3E}">
        <p14:creationId xmlns:p14="http://schemas.microsoft.com/office/powerpoint/2010/main" val="2697962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51187"/>
            <a:ext cx="10515600" cy="887205"/>
          </a:xfrm>
        </p:spPr>
        <p:txBody>
          <a:bodyPr>
            <a:normAutofit/>
          </a:bodyPr>
          <a:lstStyle/>
          <a:p>
            <a:pPr algn="ctr"/>
            <a:r>
              <a:rPr lang="en-US" sz="3500" b="1" dirty="0">
                <a:latin typeface="Times New Roman" pitchFamily="18" charset="0"/>
                <a:cs typeface="Times New Roman" pitchFamily="18" charset="0"/>
              </a:rPr>
              <a:t>ABSTRACT</a:t>
            </a:r>
            <a:endParaRPr lang="en-US" sz="3500" dirty="0"/>
          </a:p>
        </p:txBody>
      </p:sp>
      <p:sp>
        <p:nvSpPr>
          <p:cNvPr id="3" name="Content Placeholder 2"/>
          <p:cNvSpPr>
            <a:spLocks noGrp="1"/>
          </p:cNvSpPr>
          <p:nvPr>
            <p:ph idx="1"/>
          </p:nvPr>
        </p:nvSpPr>
        <p:spPr>
          <a:xfrm>
            <a:off x="887895" y="1257399"/>
            <a:ext cx="10515600" cy="4867728"/>
          </a:xfrm>
        </p:spPr>
        <p:txBody>
          <a:bodyPr>
            <a:noAutofit/>
          </a:bodyPr>
          <a:lstStyle/>
          <a:p>
            <a:pPr indent="0" algn="just">
              <a:lnSpc>
                <a:spcPct val="150000"/>
              </a:lnSpc>
              <a:buNone/>
            </a:pPr>
            <a:r>
              <a:rPr lang="en-US" sz="1800" dirty="0">
                <a:latin typeface="Times New Roman" panose="02020603050405020304" pitchFamily="18" charset="0"/>
                <a:cs typeface="Times New Roman" panose="02020603050405020304" pitchFamily="18" charset="0"/>
              </a:rPr>
              <a:t>	Individuals with locomotor disabilities or paralysis often struggle with independent mobility due to their inability to operate traditional wheelchairs that require manual or joystick control. This affects their autonomy and quality of life, making them dependent on caregivers for daily movement. To address this challenge, this project proposes an </a:t>
            </a:r>
            <a:r>
              <a:rPr lang="en-US" sz="1800">
                <a:latin typeface="Times New Roman" panose="02020603050405020304" pitchFamily="18" charset="0"/>
                <a:cs typeface="Times New Roman" panose="02020603050405020304" pitchFamily="18" charset="0"/>
              </a:rPr>
              <a:t>intelligent eye-tracking based </a:t>
            </a:r>
            <a:r>
              <a:rPr lang="en-US" sz="1800" dirty="0">
                <a:latin typeface="Times New Roman" panose="02020603050405020304" pitchFamily="18" charset="0"/>
                <a:cs typeface="Times New Roman" panose="02020603050405020304" pitchFamily="18" charset="0"/>
              </a:rPr>
              <a:t>smart wheelchair control concept that enables users to navigate and interact using only their eye movements. In the initial phase, a software-based system is developed, where real-time eye movements are captured using a webcam and processed with OpenCV and Python to detect gaze direction and blinks. These outputs are classified and mapped into commands such as forward, backward, left, right, stop and PDF scrolling. As a future enhancement, these commands will be integrated with Raspberry Pi and wireless communication for real wheelchair control. This AI-driven solution aims to provide a hands-free, real-time assistive system that enhances independence and safety for physically disabled individuals.</a:t>
            </a:r>
          </a:p>
        </p:txBody>
      </p:sp>
    </p:spTree>
    <p:extLst>
      <p:ext uri="{BB962C8B-B14F-4D97-AF65-F5344CB8AC3E}">
        <p14:creationId xmlns:p14="http://schemas.microsoft.com/office/powerpoint/2010/main" val="2433710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6C064-D297-2430-DF46-0682D9C1BA79}"/>
              </a:ext>
            </a:extLst>
          </p:cNvPr>
          <p:cNvSpPr>
            <a:spLocks noGrp="1"/>
          </p:cNvSpPr>
          <p:nvPr>
            <p:ph type="title"/>
          </p:nvPr>
        </p:nvSpPr>
        <p:spPr/>
        <p:txBody>
          <a:bodyPr>
            <a:normAutofit/>
          </a:bodyPr>
          <a:lstStyle/>
          <a:p>
            <a:pPr algn="ctr"/>
            <a:r>
              <a:rPr lang="en-US" sz="3500" b="1" dirty="0">
                <a:latin typeface="Times New Roman" pitchFamily="18" charset="0"/>
                <a:cs typeface="Times New Roman" pitchFamily="18" charset="0"/>
              </a:rPr>
              <a:t>PROBLEM STATEMENT</a:t>
            </a:r>
            <a:endParaRPr lang="en-IN" sz="35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F1549213-09CA-8E34-74BB-93F50670C68F}"/>
              </a:ext>
            </a:extLst>
          </p:cNvPr>
          <p:cNvSpPr>
            <a:spLocks noGrp="1"/>
          </p:cNvSpPr>
          <p:nvPr>
            <p:ph idx="1"/>
          </p:nvPr>
        </p:nvSpPr>
        <p:spPr>
          <a:xfrm>
            <a:off x="838200" y="1578197"/>
            <a:ext cx="10515600" cy="4351338"/>
          </a:xfrm>
        </p:spPr>
        <p:txBody>
          <a:bodyPr>
            <a:norm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	Current human–computer interaction methods are not suitable for individuals with limited mobility, as they depend on physical input devices. Existing eye-tracking systems often suffer from low accuracy due to lighting variations, head movement, and occlusions, along with challenges in real-time performance. This work addresses these issues by developing a vision-based system that integrates eye detection, gaze estimation, and blink recognition using optimized machine learning techniques to provide accurate, real-time, and hands-free interaction.</a:t>
            </a:r>
            <a:endParaRPr lang="en-IN" sz="2200"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81827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6FF40-B484-F61A-2146-28866F3EFF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2C06F2-0751-941D-0633-334758D3327E}"/>
              </a:ext>
            </a:extLst>
          </p:cNvPr>
          <p:cNvSpPr>
            <a:spLocks noGrp="1"/>
          </p:cNvSpPr>
          <p:nvPr>
            <p:ph type="title"/>
          </p:nvPr>
        </p:nvSpPr>
        <p:spPr/>
        <p:txBody>
          <a:bodyPr>
            <a:normAutofit/>
          </a:bodyPr>
          <a:lstStyle/>
          <a:p>
            <a:pPr algn="ctr"/>
            <a:r>
              <a:rPr lang="en-US" sz="3500" b="1" dirty="0">
                <a:latin typeface="Times New Roman" panose="02020603050405020304" pitchFamily="18" charset="0"/>
                <a:cs typeface="Times New Roman" panose="02020603050405020304" pitchFamily="18" charset="0"/>
              </a:rPr>
              <a:t>INTRODUCTION</a:t>
            </a:r>
            <a:endParaRPr lang="en-IN" sz="35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FD970F3E-8C04-A635-7477-F29C00588592}"/>
              </a:ext>
            </a:extLst>
          </p:cNvPr>
          <p:cNvSpPr>
            <a:spLocks noGrp="1"/>
          </p:cNvSpPr>
          <p:nvPr>
            <p:ph idx="1"/>
          </p:nvPr>
        </p:nvSpPr>
        <p:spPr>
          <a:xfrm>
            <a:off x="838200" y="1524409"/>
            <a:ext cx="10515600" cy="4351338"/>
          </a:xfrm>
        </p:spPr>
        <p:txBody>
          <a:bodyPr>
            <a:normAutofit/>
          </a:bodyPr>
          <a:lstStyle/>
          <a:p>
            <a:pPr marL="0" indent="0" algn="just">
              <a:lnSpc>
                <a:spcPct val="150000"/>
              </a:lnSpc>
              <a:buNone/>
            </a:pPr>
            <a:r>
              <a:rPr lang="en-US" sz="2000" dirty="0">
                <a:latin typeface="Times New Roman" panose="02020603050405020304" pitchFamily="18" charset="0"/>
                <a:cs typeface="Times New Roman" pitchFamily="18" charset="0"/>
              </a:rPr>
              <a:t>	The system is designed to assist individuals with locomotor disabilities or paralysis by enabling a smart wheelchair that can be controlled entirely through eye movements. It uses software-based eye tracking powered by OpenCV and </a:t>
            </a:r>
            <a:r>
              <a:rPr lang="en-US" sz="2000" dirty="0" err="1">
                <a:latin typeface="Times New Roman" panose="02020603050405020304" pitchFamily="18" charset="0"/>
                <a:cs typeface="Times New Roman" pitchFamily="18" charset="0"/>
              </a:rPr>
              <a:t>MediaPipe</a:t>
            </a:r>
            <a:r>
              <a:rPr lang="en-US" sz="2000" dirty="0">
                <a:latin typeface="Times New Roman" panose="02020603050405020304" pitchFamily="18" charset="0"/>
                <a:cs typeface="Times New Roman" pitchFamily="18" charset="0"/>
              </a:rPr>
              <a:t> Face Mesh to detect gaze direction and blink patterns in real time. These eye inputs are processed using machine learning–based SVM classification to generate accurate navigation commands, allowing users to control wheelchair movement without hand support. Additionally, accessibility is extended through eye-gaze–based PDF scrolling and digital document interaction, enabling users to read and navigate content with ease. Overall, this AI-driven, hands-free control system enhances independence, safety, and digital accessibility for physically disabled users.</a:t>
            </a:r>
          </a:p>
        </p:txBody>
      </p:sp>
    </p:spTree>
    <p:extLst>
      <p:ext uri="{BB962C8B-B14F-4D97-AF65-F5344CB8AC3E}">
        <p14:creationId xmlns:p14="http://schemas.microsoft.com/office/powerpoint/2010/main" val="4292501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3138" y="459139"/>
            <a:ext cx="10515600" cy="665653"/>
          </a:xfrm>
        </p:spPr>
        <p:txBody>
          <a:bodyPr>
            <a:normAutofit/>
          </a:bodyPr>
          <a:lstStyle/>
          <a:p>
            <a:pPr algn="ctr"/>
            <a:r>
              <a:rPr lang="en-US" sz="3500" b="1" dirty="0">
                <a:latin typeface="Times New Roman" panose="02020603050405020304" pitchFamily="18" charset="0"/>
                <a:cs typeface="Times New Roman" panose="02020603050405020304" pitchFamily="18" charset="0"/>
              </a:rPr>
              <a:t>LITERATURE SURVEY </a:t>
            </a:r>
            <a:endParaRPr lang="en-US" sz="3500" dirty="0"/>
          </a:p>
        </p:txBody>
      </p:sp>
      <p:graphicFrame>
        <p:nvGraphicFramePr>
          <p:cNvPr id="4" name="Content Placeholder 3"/>
          <p:cNvGraphicFramePr>
            <a:graphicFrameLocks noGrp="1"/>
          </p:cNvGraphicFramePr>
          <p:nvPr>
            <p:ph idx="1"/>
          </p:nvPr>
        </p:nvGraphicFramePr>
        <p:xfrm>
          <a:off x="403083" y="1037848"/>
          <a:ext cx="11591108" cy="5899696"/>
        </p:xfrm>
        <a:graphic>
          <a:graphicData uri="http://schemas.openxmlformats.org/drawingml/2006/table">
            <a:tbl>
              <a:tblPr firstRow="1" bandRow="1">
                <a:tableStyleId>{5940675A-B579-460E-94D1-54222C63F5DA}</a:tableStyleId>
              </a:tblPr>
              <a:tblGrid>
                <a:gridCol w="483544">
                  <a:extLst>
                    <a:ext uri="{9D8B030D-6E8A-4147-A177-3AD203B41FA5}">
                      <a16:colId xmlns:a16="http://schemas.microsoft.com/office/drawing/2014/main" val="20000"/>
                    </a:ext>
                  </a:extLst>
                </a:gridCol>
                <a:gridCol w="2065579">
                  <a:extLst>
                    <a:ext uri="{9D8B030D-6E8A-4147-A177-3AD203B41FA5}">
                      <a16:colId xmlns:a16="http://schemas.microsoft.com/office/drawing/2014/main" val="20001"/>
                    </a:ext>
                  </a:extLst>
                </a:gridCol>
                <a:gridCol w="1611085">
                  <a:extLst>
                    <a:ext uri="{9D8B030D-6E8A-4147-A177-3AD203B41FA5}">
                      <a16:colId xmlns:a16="http://schemas.microsoft.com/office/drawing/2014/main" val="20002"/>
                    </a:ext>
                  </a:extLst>
                </a:gridCol>
                <a:gridCol w="2394858">
                  <a:extLst>
                    <a:ext uri="{9D8B030D-6E8A-4147-A177-3AD203B41FA5}">
                      <a16:colId xmlns:a16="http://schemas.microsoft.com/office/drawing/2014/main" val="20003"/>
                    </a:ext>
                  </a:extLst>
                </a:gridCol>
                <a:gridCol w="2246811">
                  <a:extLst>
                    <a:ext uri="{9D8B030D-6E8A-4147-A177-3AD203B41FA5}">
                      <a16:colId xmlns:a16="http://schemas.microsoft.com/office/drawing/2014/main" val="4202970141"/>
                    </a:ext>
                  </a:extLst>
                </a:gridCol>
                <a:gridCol w="2789231">
                  <a:extLst>
                    <a:ext uri="{9D8B030D-6E8A-4147-A177-3AD203B41FA5}">
                      <a16:colId xmlns:a16="http://schemas.microsoft.com/office/drawing/2014/main" val="20004"/>
                    </a:ext>
                  </a:extLst>
                </a:gridCol>
              </a:tblGrid>
              <a:tr h="744766">
                <a:tc>
                  <a:txBody>
                    <a:bodyPr/>
                    <a:lstStyle/>
                    <a:p>
                      <a:r>
                        <a:rPr lang="en-IN" sz="1600" b="1" i="0" kern="1200" dirty="0" err="1">
                          <a:solidFill>
                            <a:schemeClr val="tx1"/>
                          </a:solidFill>
                          <a:effectLst/>
                          <a:latin typeface="Times New Roman" panose="02020603050405020304" pitchFamily="18" charset="0"/>
                          <a:cs typeface="Times New Roman" panose="02020603050405020304" pitchFamily="18" charset="0"/>
                        </a:rPr>
                        <a:t>S.No</a:t>
                      </a:r>
                      <a:endParaRPr lang="en-US" sz="1600" i="0" dirty="0">
                        <a:solidFill>
                          <a:schemeClr val="tx1"/>
                        </a:solidFill>
                        <a:latin typeface="Times New Roman" pitchFamily="18" charset="0"/>
                        <a:cs typeface="Times New Roman" pitchFamily="18" charset="0"/>
                      </a:endParaRP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i="0" dirty="0">
                          <a:solidFill>
                            <a:schemeClr val="tx1"/>
                          </a:solidFill>
                          <a:effectLst/>
                          <a:latin typeface="Times New Roman" panose="02020603050405020304" pitchFamily="18" charset="0"/>
                          <a:cs typeface="Times New Roman" panose="02020603050405020304" pitchFamily="18" charset="0"/>
                        </a:rPr>
                        <a:t>Authors</a:t>
                      </a:r>
                      <a:r>
                        <a:rPr lang="en-IN" sz="1600" b="1" i="0" baseline="0" dirty="0">
                          <a:solidFill>
                            <a:schemeClr val="tx1"/>
                          </a:solidFill>
                          <a:effectLst/>
                          <a:latin typeface="Times New Roman" panose="02020603050405020304" pitchFamily="18" charset="0"/>
                          <a:cs typeface="Times New Roman" panose="02020603050405020304" pitchFamily="18" charset="0"/>
                        </a:rPr>
                        <a:t> &amp; Year of  Publication</a:t>
                      </a:r>
                      <a:endParaRPr lang="en-IN" sz="1600" i="0" dirty="0">
                        <a:solidFill>
                          <a:schemeClr val="tx1"/>
                        </a:solidFill>
                        <a:effectLst/>
                        <a:latin typeface="Times New Roman" pitchFamily="18" charset="0"/>
                        <a:ea typeface="Calibri" panose="020F0502020204030204" pitchFamily="34" charset="0"/>
                        <a:cs typeface="Times New Roman" pitchFamily="18" charset="0"/>
                      </a:endParaRPr>
                    </a:p>
                  </a:txBody>
                  <a:tcPr>
                    <a:solidFill>
                      <a:schemeClr val="bg2">
                        <a:lumMod val="75000"/>
                      </a:schemeClr>
                    </a:solidFill>
                  </a:tcPr>
                </a:tc>
                <a:tc>
                  <a:txBody>
                    <a:bodyPr/>
                    <a:lstStyle/>
                    <a:p>
                      <a:pPr algn="ctr"/>
                      <a:r>
                        <a:rPr lang="en-US" sz="1600" b="1" i="0" dirty="0">
                          <a:solidFill>
                            <a:schemeClr val="tx1"/>
                          </a:solidFill>
                          <a:latin typeface="Times New Roman" panose="02020603050405020304" pitchFamily="18" charset="0"/>
                          <a:cs typeface="Times New Roman" panose="02020603050405020304" pitchFamily="18" charset="0"/>
                        </a:rPr>
                        <a:t>Type of publication</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dirty="0">
                          <a:solidFill>
                            <a:schemeClr val="tx1"/>
                          </a:solidFill>
                          <a:latin typeface="Times New Roman" panose="02020603050405020304" pitchFamily="18" charset="0"/>
                          <a:cs typeface="Times New Roman" panose="02020603050405020304" pitchFamily="18" charset="0"/>
                        </a:rPr>
                        <a:t>Title of the paper</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dirty="0">
                          <a:solidFill>
                            <a:schemeClr val="tx1"/>
                          </a:solidFill>
                          <a:latin typeface="Times New Roman" pitchFamily="18" charset="0"/>
                          <a:cs typeface="Times New Roman" pitchFamily="18" charset="0"/>
                        </a:rPr>
                        <a:t>Algorithm</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dirty="0">
                          <a:solidFill>
                            <a:schemeClr val="tx1"/>
                          </a:solidFill>
                          <a:latin typeface="Times New Roman" panose="02020603050405020304" pitchFamily="18" charset="0"/>
                          <a:cs typeface="Times New Roman" panose="02020603050405020304" pitchFamily="18" charset="0"/>
                        </a:rPr>
                        <a:t>Advantages &amp;</a:t>
                      </a:r>
                      <a:r>
                        <a:rPr lang="en-US" sz="1600" b="1" i="0" spc="-55" dirty="0">
                          <a:solidFill>
                            <a:schemeClr val="tx1"/>
                          </a:solidFill>
                          <a:latin typeface="Times New Roman" panose="02020603050405020304" pitchFamily="18" charset="0"/>
                          <a:cs typeface="Times New Roman" panose="02020603050405020304" pitchFamily="18" charset="0"/>
                        </a:rPr>
                        <a:t> </a:t>
                      </a:r>
                      <a:r>
                        <a:rPr lang="en-US" sz="1600" b="1" i="0" spc="-10" dirty="0">
                          <a:solidFill>
                            <a:schemeClr val="tx1"/>
                          </a:solidFill>
                          <a:latin typeface="Times New Roman" panose="02020603050405020304" pitchFamily="18" charset="0"/>
                          <a:cs typeface="Times New Roman" panose="02020603050405020304" pitchFamily="18" charset="0"/>
                        </a:rPr>
                        <a:t>Limitations</a:t>
                      </a:r>
                      <a:endParaRPr lang="en-US" sz="1600" i="0" dirty="0">
                        <a:solidFill>
                          <a:schemeClr val="tx1"/>
                        </a:solidFill>
                        <a:latin typeface="Times New Roman" pitchFamily="18" charset="0"/>
                        <a:cs typeface="Times New Roman" pitchFamily="18" charset="0"/>
                      </a:endParaRPr>
                    </a:p>
                  </a:txBody>
                  <a:tcPr>
                    <a:solidFill>
                      <a:schemeClr val="bg2">
                        <a:lumMod val="75000"/>
                      </a:schemeClr>
                    </a:solidFill>
                  </a:tcPr>
                </a:tc>
                <a:extLst>
                  <a:ext uri="{0D108BD9-81ED-4DB2-BD59-A6C34878D82A}">
                    <a16:rowId xmlns:a16="http://schemas.microsoft.com/office/drawing/2014/main" val="10000"/>
                  </a:ext>
                </a:extLst>
              </a:tr>
              <a:tr h="788712">
                <a:tc rowSpan="2">
                  <a:txBody>
                    <a:bodyPr/>
                    <a:lstStyle/>
                    <a:p>
                      <a:pPr algn="ctr">
                        <a:lnSpc>
                          <a:spcPct val="150000"/>
                        </a:lnSpc>
                      </a:pPr>
                      <a:endParaRPr lang="en-US" sz="1600" i="0" dirty="0">
                        <a:solidFill>
                          <a:schemeClr val="tx1"/>
                        </a:solidFill>
                        <a:latin typeface="Times New Roman" panose="02020603050405020304" pitchFamily="18" charset="0"/>
                        <a:cs typeface="Times New Roman" panose="02020603050405020304" pitchFamily="18" charset="0"/>
                      </a:endParaRPr>
                    </a:p>
                    <a:p>
                      <a:pPr algn="ctr">
                        <a:lnSpc>
                          <a:spcPct val="150000"/>
                        </a:lnSpc>
                      </a:pPr>
                      <a:r>
                        <a:rPr lang="en-US" sz="1600" i="0" dirty="0">
                          <a:solidFill>
                            <a:schemeClr val="tx1"/>
                          </a:solidFill>
                          <a:latin typeface="Times New Roman" panose="02020603050405020304" pitchFamily="18" charset="0"/>
                          <a:cs typeface="Times New Roman" panose="02020603050405020304" pitchFamily="18" charset="0"/>
                        </a:rPr>
                        <a:t>1</a:t>
                      </a:r>
                    </a:p>
                  </a:txBody>
                  <a:tcPr/>
                </a:tc>
                <a:tc rowSpan="2">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IN" sz="1600" dirty="0" err="1">
                          <a:latin typeface="Times New Roman" panose="02020603050405020304" pitchFamily="18" charset="0"/>
                          <a:cs typeface="Times New Roman" panose="02020603050405020304" pitchFamily="18" charset="0"/>
                        </a:rPr>
                        <a:t>Yoshiike</a:t>
                      </a:r>
                      <a:r>
                        <a:rPr lang="en-IN" sz="1600" dirty="0">
                          <a:latin typeface="Times New Roman" panose="02020603050405020304" pitchFamily="18" charset="0"/>
                          <a:cs typeface="Times New Roman" panose="02020603050405020304" pitchFamily="18" charset="0"/>
                        </a:rPr>
                        <a:t> Abderrahmane </a:t>
                      </a:r>
                      <a:r>
                        <a:rPr lang="en-IN" sz="1600" dirty="0" err="1">
                          <a:latin typeface="Times New Roman" panose="02020603050405020304" pitchFamily="18" charset="0"/>
                          <a:cs typeface="Times New Roman" panose="02020603050405020304" pitchFamily="18" charset="0"/>
                        </a:rPr>
                        <a:t>Kheddar</a:t>
                      </a:r>
                      <a:r>
                        <a:rPr lang="en-IN" sz="1600" dirty="0">
                          <a:latin typeface="Times New Roman" panose="02020603050405020304" pitchFamily="18" charset="0"/>
                          <a:cs typeface="Times New Roman" panose="02020603050405020304" pitchFamily="18" charset="0"/>
                        </a:rPr>
                        <a:t> Year: 2025</a:t>
                      </a:r>
                      <a:endParaRPr lang="en-IN" sz="1600" i="0" dirty="0">
                        <a:solidFill>
                          <a:schemeClr val="tx1"/>
                        </a:solidFill>
                        <a:latin typeface="Times New Roman" panose="02020603050405020304" pitchFamily="18" charset="0"/>
                        <a:cs typeface="Times New Roman" panose="02020603050405020304" pitchFamily="18" charset="0"/>
                      </a:endParaRPr>
                    </a:p>
                  </a:txBody>
                  <a:tcPr/>
                </a:tc>
                <a:tc rowSpan="2">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IEEE Robotics and Automation </a:t>
                      </a:r>
                      <a:endParaRPr lang="en-IN" sz="16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rowSpan="2">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600" i="0" dirty="0">
                          <a:latin typeface="Times New Roman" panose="02020603050405020304" pitchFamily="18" charset="0"/>
                          <a:cs typeface="Times New Roman" panose="02020603050405020304" pitchFamily="18" charset="0"/>
                        </a:rPr>
                        <a:t>Humanoid-Human Sit-to-Stand-to-Sit Assistance</a:t>
                      </a:r>
                      <a:endParaRPr lang="en-IN" sz="1600" i="0" kern="1200" dirty="0">
                        <a:solidFill>
                          <a:schemeClr val="tx1"/>
                        </a:solidFill>
                        <a:effectLst/>
                        <a:latin typeface="Times New Roman" pitchFamily="18" charset="0"/>
                        <a:ea typeface="+mn-ea"/>
                        <a:cs typeface="Times New Roman" pitchFamily="18" charset="0"/>
                      </a:endParaRPr>
                    </a:p>
                  </a:txBody>
                  <a:tcPr/>
                </a:tc>
                <a:tc rowSpan="2">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600" i="0" dirty="0">
                          <a:latin typeface="Times New Roman" panose="02020603050405020304" pitchFamily="18" charset="0"/>
                          <a:cs typeface="Times New Roman" panose="02020603050405020304" pitchFamily="18" charset="0"/>
                        </a:rPr>
                        <a:t>DCM + VRP + Multi-body Dynamics &amp; Feedback Control</a:t>
                      </a:r>
                      <a:endParaRPr lang="en-IN" sz="1600" i="0" kern="1200" dirty="0">
                        <a:solidFill>
                          <a:schemeClr val="tx1"/>
                        </a:solidFill>
                        <a:effectLst/>
                        <a:latin typeface="Times New Roman" pitchFamily="18" charset="0"/>
                        <a:ea typeface="+mn-ea"/>
                        <a:cs typeface="Times New Roman" pitchFamily="18" charset="0"/>
                      </a:endParaRPr>
                    </a:p>
                  </a:txBody>
                  <a:tcPr/>
                </a:tc>
                <a:tc>
                  <a:txBody>
                    <a:bodyPr/>
                    <a:lstStyle/>
                    <a:p>
                      <a:pPr marL="285750" indent="-285750">
                        <a:buFont typeface="Wingdings" panose="05000000000000000000" pitchFamily="2" charset="2"/>
                        <a:buChar char="Ø"/>
                      </a:pPr>
                      <a:r>
                        <a:rPr lang="en-US" sz="1600" i="0" dirty="0">
                          <a:effectLst/>
                          <a:latin typeface="Times New Roman" panose="02020603050405020304" pitchFamily="18" charset="0"/>
                          <a:cs typeface="Times New Roman" panose="02020603050405020304" pitchFamily="18" charset="0"/>
                        </a:rPr>
                        <a:t>Provides real-time assistance based on human balance</a:t>
                      </a:r>
                    </a:p>
                  </a:txBody>
                  <a:tcPr/>
                </a:tc>
                <a:extLst>
                  <a:ext uri="{0D108BD9-81ED-4DB2-BD59-A6C34878D82A}">
                    <a16:rowId xmlns:a16="http://schemas.microsoft.com/office/drawing/2014/main" val="10002"/>
                  </a:ext>
                </a:extLst>
              </a:tr>
              <a:tr h="444451">
                <a:tc vMerge="1">
                  <a:txBody>
                    <a:bodyPr/>
                    <a:lstStyle/>
                    <a:p>
                      <a:endParaRPr lang="en-IN"/>
                    </a:p>
                  </a:txBody>
                  <a:tcPr/>
                </a:tc>
                <a:tc vMerge="1">
                  <a:txBody>
                    <a:bodyPr/>
                    <a:lstStyle/>
                    <a:p>
                      <a:endParaRPr lang="en-IN" dirty="0"/>
                    </a:p>
                  </a:txBody>
                  <a:tcPr/>
                </a:tc>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marL="285750" indent="-285750">
                        <a:buFont typeface="Wingdings" panose="05000000000000000000" pitchFamily="2" charset="2"/>
                        <a:buChar char="Ø"/>
                      </a:pPr>
                      <a:r>
                        <a:rPr lang="en-IN" sz="1600" i="0" dirty="0">
                          <a:latin typeface="Times New Roman" panose="02020603050405020304" pitchFamily="18" charset="0"/>
                          <a:cs typeface="Times New Roman" panose="02020603050405020304" pitchFamily="18" charset="0"/>
                        </a:rPr>
                        <a:t>Requires highly accurate sensors</a:t>
                      </a:r>
                    </a:p>
                  </a:txBody>
                  <a:tcPr/>
                </a:tc>
                <a:extLst>
                  <a:ext uri="{0D108BD9-81ED-4DB2-BD59-A6C34878D82A}">
                    <a16:rowId xmlns:a16="http://schemas.microsoft.com/office/drawing/2014/main" val="3521762208"/>
                  </a:ext>
                </a:extLst>
              </a:tr>
              <a:tr h="746720">
                <a:tc rowSpan="2">
                  <a:txBody>
                    <a:bodyPr/>
                    <a:lstStyle/>
                    <a:p>
                      <a:pPr algn="ctr">
                        <a:lnSpc>
                          <a:spcPct val="150000"/>
                        </a:lnSpc>
                      </a:pPr>
                      <a:endParaRPr lang="en-US" sz="1600" i="0" dirty="0">
                        <a:solidFill>
                          <a:schemeClr val="tx1"/>
                        </a:solidFill>
                        <a:latin typeface="Times New Roman" pitchFamily="18" charset="0"/>
                        <a:cs typeface="Times New Roman" pitchFamily="18" charset="0"/>
                      </a:endParaRPr>
                    </a:p>
                    <a:p>
                      <a:pPr algn="ctr">
                        <a:lnSpc>
                          <a:spcPct val="150000"/>
                        </a:lnSpc>
                      </a:pPr>
                      <a:r>
                        <a:rPr lang="en-US" sz="1600" i="0" dirty="0">
                          <a:solidFill>
                            <a:schemeClr val="tx1"/>
                          </a:solidFill>
                          <a:latin typeface="Times New Roman" pitchFamily="18" charset="0"/>
                          <a:cs typeface="Times New Roman" pitchFamily="18" charset="0"/>
                        </a:rPr>
                        <a:t>2</a:t>
                      </a:r>
                    </a:p>
                  </a:txBody>
                  <a:tcPr/>
                </a:tc>
                <a:tc rowSpan="2">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IN" sz="1600" dirty="0" err="1">
                          <a:latin typeface="Times New Roman" panose="02020603050405020304" pitchFamily="18" charset="0"/>
                          <a:cs typeface="Times New Roman" panose="02020603050405020304" pitchFamily="18" charset="0"/>
                        </a:rPr>
                        <a:t>Nealson</a:t>
                      </a:r>
                      <a:r>
                        <a:rPr lang="en-IN" sz="1600" dirty="0">
                          <a:latin typeface="Times New Roman" panose="02020603050405020304" pitchFamily="18" charset="0"/>
                          <a:cs typeface="Times New Roman" panose="02020603050405020304" pitchFamily="18" charset="0"/>
                        </a:rPr>
                        <a:t> Li Muya Chang Arijit </a:t>
                      </a:r>
                      <a:r>
                        <a:rPr lang="en-IN" sz="1600" dirty="0" err="1">
                          <a:latin typeface="Times New Roman" panose="02020603050405020304" pitchFamily="18" charset="0"/>
                          <a:cs typeface="Times New Roman" panose="02020603050405020304" pitchFamily="18" charset="0"/>
                        </a:rPr>
                        <a:t>Raychowdhury</a:t>
                      </a:r>
                      <a:r>
                        <a:rPr lang="en-IN" sz="1600" dirty="0">
                          <a:latin typeface="Times New Roman" panose="02020603050405020304" pitchFamily="18" charset="0"/>
                          <a:cs typeface="Times New Roman" panose="02020603050405020304" pitchFamily="18" charset="0"/>
                        </a:rPr>
                        <a:t> Year: 2024</a:t>
                      </a:r>
                      <a:endParaRPr lang="en-IN" sz="1600" i="0" dirty="0">
                        <a:solidFill>
                          <a:schemeClr val="tx1"/>
                        </a:solidFill>
                        <a:latin typeface="Times New Roman" panose="02020603050405020304" pitchFamily="18" charset="0"/>
                        <a:cs typeface="Times New Roman" panose="02020603050405020304" pitchFamily="18" charset="0"/>
                      </a:endParaRPr>
                    </a:p>
                  </a:txBody>
                  <a:tcPr/>
                </a:tc>
                <a:tc rowSpan="2">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IEEE Transaction on Pattern Analysis and Machine Intelligence</a:t>
                      </a:r>
                      <a:endParaRPr lang="en-IN" sz="16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rowSpan="2">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E-Gaze: Gaze Estimation With Event Camera</a:t>
                      </a:r>
                      <a:endParaRPr lang="en-IN" sz="1600" i="0" kern="1200" dirty="0">
                        <a:solidFill>
                          <a:schemeClr val="tx1"/>
                        </a:solidFill>
                        <a:effectLst/>
                        <a:latin typeface="Times New Roman" pitchFamily="18" charset="0"/>
                        <a:ea typeface="+mn-ea"/>
                        <a:cs typeface="Times New Roman" pitchFamily="18" charset="0"/>
                      </a:endParaRPr>
                    </a:p>
                  </a:txBody>
                  <a:tcPr/>
                </a:tc>
                <a:tc rowSpan="2">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Event-based Feature Extraction </a:t>
                      </a:r>
                    </a:p>
                    <a:p>
                      <a:pPr marL="0" marR="0" lvl="0" indent="0" algn="ctr" defTabSz="914400" rtl="0" eaLnBrk="1" fontAlgn="auto" latinLnBrk="0" hangingPunct="1">
                        <a:lnSpc>
                          <a:spcPct val="15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RNN + LSTM</a:t>
                      </a:r>
                      <a:endParaRPr lang="en-IN" sz="1600" i="0" kern="1200" dirty="0">
                        <a:solidFill>
                          <a:schemeClr val="tx1"/>
                        </a:solidFill>
                        <a:effectLst/>
                        <a:latin typeface="Times New Roman" pitchFamily="18" charset="0"/>
                        <a:ea typeface="+mn-ea"/>
                        <a:cs typeface="Times New Roman" pitchFamily="18" charset="0"/>
                      </a:endParaRPr>
                    </a:p>
                  </a:txBody>
                  <a:tcPr/>
                </a:tc>
                <a:tc>
                  <a:txBody>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US" sz="1600" i="0" dirty="0">
                          <a:latin typeface="Times New Roman" panose="02020603050405020304" pitchFamily="18" charset="0"/>
                          <a:cs typeface="Times New Roman" panose="02020603050405020304" pitchFamily="18" charset="0"/>
                        </a:rPr>
                        <a:t> Work with </a:t>
                      </a:r>
                      <a:r>
                        <a:rPr lang="en-IN" sz="1600" dirty="0">
                          <a:latin typeface="Times New Roman" panose="02020603050405020304" pitchFamily="18" charset="0"/>
                          <a:cs typeface="Times New Roman" panose="02020603050405020304" pitchFamily="18" charset="0"/>
                        </a:rPr>
                        <a:t>Ultra-low latency</a:t>
                      </a:r>
                      <a:endParaRPr lang="en-US" sz="1600" i="0" kern="1200" dirty="0">
                        <a:solidFill>
                          <a:schemeClr val="tx1"/>
                        </a:solidFill>
                        <a:effectLst/>
                        <a:latin typeface="Times New Roman" pitchFamily="18" charset="0"/>
                        <a:ea typeface="+mn-ea"/>
                        <a:cs typeface="Times New Roman" pitchFamily="18" charset="0"/>
                      </a:endParaRPr>
                    </a:p>
                  </a:txBody>
                  <a:tcPr/>
                </a:tc>
                <a:extLst>
                  <a:ext uri="{0D108BD9-81ED-4DB2-BD59-A6C34878D82A}">
                    <a16:rowId xmlns:a16="http://schemas.microsoft.com/office/drawing/2014/main" val="703399544"/>
                  </a:ext>
                </a:extLst>
              </a:tr>
              <a:tr h="1051616">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IN" sz="1600" dirty="0">
                          <a:latin typeface="Times New Roman" panose="02020603050405020304" pitchFamily="18" charset="0"/>
                          <a:cs typeface="Times New Roman" panose="02020603050405020304" pitchFamily="18" charset="0"/>
                        </a:rPr>
                        <a:t>Complex event-based data processing</a:t>
                      </a:r>
                      <a:endParaRPr lang="en-US" sz="16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9845293"/>
                  </a:ext>
                </a:extLst>
              </a:tr>
              <a:tr h="705115">
                <a:tc rowSpan="2">
                  <a:txBody>
                    <a:bodyPr/>
                    <a:lstStyle/>
                    <a:p>
                      <a:pPr algn="ctr">
                        <a:lnSpc>
                          <a:spcPct val="150000"/>
                        </a:lnSpc>
                      </a:pPr>
                      <a:endParaRPr lang="en-US" sz="1600" i="0" dirty="0">
                        <a:solidFill>
                          <a:schemeClr val="tx1"/>
                        </a:solidFill>
                        <a:latin typeface="Times New Roman" pitchFamily="18" charset="0"/>
                        <a:cs typeface="Times New Roman" pitchFamily="18" charset="0"/>
                      </a:endParaRPr>
                    </a:p>
                    <a:p>
                      <a:pPr algn="ctr">
                        <a:lnSpc>
                          <a:spcPct val="150000"/>
                        </a:lnSpc>
                      </a:pPr>
                      <a:r>
                        <a:rPr lang="en-US" sz="1600" i="0" dirty="0">
                          <a:solidFill>
                            <a:schemeClr val="tx1"/>
                          </a:solidFill>
                          <a:latin typeface="Times New Roman" pitchFamily="18" charset="0"/>
                          <a:cs typeface="Times New Roman" pitchFamily="18" charset="0"/>
                        </a:rPr>
                        <a:t>3</a:t>
                      </a:r>
                    </a:p>
                  </a:txBody>
                  <a:tcPr/>
                </a:tc>
                <a:tc rowSpan="2">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Mohamed Abul Hassan Chad M. Aldridge Yan Zhuang, et al. Year: 2023</a:t>
                      </a:r>
                      <a:endParaRPr lang="en-IN" sz="1600" i="0" kern="1200" dirty="0">
                        <a:solidFill>
                          <a:schemeClr val="tx1"/>
                        </a:solidFill>
                        <a:effectLst/>
                        <a:latin typeface="Times New Roman" pitchFamily="18" charset="0"/>
                        <a:ea typeface="+mn-ea"/>
                        <a:cs typeface="Times New Roman" pitchFamily="18" charset="0"/>
                      </a:endParaRPr>
                    </a:p>
                  </a:txBody>
                  <a:tcPr/>
                </a:tc>
                <a:tc rowSpan="2">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600" i="0" dirty="0">
                          <a:solidFill>
                            <a:schemeClr val="tx1"/>
                          </a:solidFill>
                          <a:latin typeface="Times New Roman" pitchFamily="18" charset="0"/>
                          <a:cs typeface="Times New Roman" pitchFamily="18" charset="0"/>
                        </a:rPr>
                        <a:t>IEEE Transaction on Biomedical Engineering</a:t>
                      </a:r>
                    </a:p>
                  </a:txBody>
                  <a:tcPr/>
                </a:tc>
                <a:tc rowSpan="2">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Approach to Quantify Eye Movements to Augment Stroke Diagnosis With a Non-Calibrated Eye-Tracker</a:t>
                      </a:r>
                      <a:endParaRPr lang="en-IN" sz="1600" i="0" kern="1200" dirty="0">
                        <a:solidFill>
                          <a:schemeClr val="tx1"/>
                        </a:solidFill>
                        <a:effectLst/>
                        <a:latin typeface="Times New Roman" pitchFamily="18" charset="0"/>
                        <a:ea typeface="+mn-ea"/>
                        <a:cs typeface="Times New Roman" pitchFamily="18" charset="0"/>
                      </a:endParaRPr>
                    </a:p>
                  </a:txBody>
                  <a:tcPr/>
                </a:tc>
                <a:tc rowSpan="2">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Eye Conjugacy Analysis Spearman’s Rank Correlation</a:t>
                      </a:r>
                      <a:endParaRPr lang="en-IN" sz="1600" i="0" kern="1200" dirty="0">
                        <a:solidFill>
                          <a:schemeClr val="tx1"/>
                        </a:solidFill>
                        <a:effectLst/>
                        <a:latin typeface="Times New Roman" pitchFamily="18" charset="0"/>
                        <a:ea typeface="+mn-ea"/>
                        <a:cs typeface="Times New Roman" pitchFamily="18" charset="0"/>
                      </a:endParaRPr>
                    </a:p>
                  </a:txBody>
                  <a:tcPr/>
                </a:tc>
                <a:tc>
                  <a:txBody>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IN" sz="1600" dirty="0">
                          <a:latin typeface="Times New Roman" panose="02020603050405020304" pitchFamily="18" charset="0"/>
                          <a:cs typeface="Times New Roman" panose="02020603050405020304" pitchFamily="18" charset="0"/>
                        </a:rPr>
                        <a:t>No calibration required</a:t>
                      </a:r>
                      <a:endParaRPr lang="en-US" sz="1600" i="0" kern="1200" dirty="0">
                        <a:solidFill>
                          <a:schemeClr val="tx1"/>
                        </a:solidFill>
                        <a:effectLst/>
                        <a:latin typeface="Times New Roman" pitchFamily="18" charset="0"/>
                        <a:ea typeface="+mn-ea"/>
                        <a:cs typeface="Times New Roman" pitchFamily="18" charset="0"/>
                      </a:endParaRPr>
                    </a:p>
                  </a:txBody>
                  <a:tcPr/>
                </a:tc>
                <a:extLst>
                  <a:ext uri="{0D108BD9-81ED-4DB2-BD59-A6C34878D82A}">
                    <a16:rowId xmlns:a16="http://schemas.microsoft.com/office/drawing/2014/main" val="10003"/>
                  </a:ext>
                </a:extLst>
              </a:tr>
              <a:tr h="1093221">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IN" sz="1600" kern="1200" dirty="0">
                          <a:solidFill>
                            <a:schemeClr val="tx1"/>
                          </a:solidFill>
                          <a:latin typeface="Times New Roman" panose="02020603050405020304" pitchFamily="18" charset="0"/>
                          <a:ea typeface="+mn-ea"/>
                          <a:cs typeface="Times New Roman" panose="02020603050405020304" pitchFamily="18" charset="0"/>
                        </a:rPr>
                        <a:t>Limited validation across diverse patient groups </a:t>
                      </a:r>
                    </a:p>
                  </a:txBody>
                  <a:tcPr/>
                </a:tc>
                <a:extLst>
                  <a:ext uri="{0D108BD9-81ED-4DB2-BD59-A6C34878D82A}">
                    <a16:rowId xmlns:a16="http://schemas.microsoft.com/office/drawing/2014/main" val="183733118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5AE56-7125-C0B3-718A-FC7716B4EC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C5DFAB-C83F-EBB4-2F35-09DC3FA96EFC}"/>
              </a:ext>
            </a:extLst>
          </p:cNvPr>
          <p:cNvSpPr>
            <a:spLocks noGrp="1"/>
          </p:cNvSpPr>
          <p:nvPr>
            <p:ph type="title"/>
          </p:nvPr>
        </p:nvSpPr>
        <p:spPr>
          <a:xfrm>
            <a:off x="863138" y="452653"/>
            <a:ext cx="10515600" cy="665653"/>
          </a:xfrm>
        </p:spPr>
        <p:txBody>
          <a:bodyPr>
            <a:normAutofit/>
          </a:bodyPr>
          <a:lstStyle/>
          <a:p>
            <a:pPr algn="ctr"/>
            <a:r>
              <a:rPr lang="en-US" sz="3500" b="1" dirty="0">
                <a:latin typeface="Times New Roman" panose="02020603050405020304" pitchFamily="18" charset="0"/>
                <a:cs typeface="Times New Roman" panose="02020603050405020304" pitchFamily="18" charset="0"/>
              </a:rPr>
              <a:t>LITERATURE SURVEY </a:t>
            </a:r>
            <a:endParaRPr lang="en-US" sz="3500" dirty="0"/>
          </a:p>
        </p:txBody>
      </p:sp>
      <p:graphicFrame>
        <p:nvGraphicFramePr>
          <p:cNvPr id="4" name="Content Placeholder 3">
            <a:extLst>
              <a:ext uri="{FF2B5EF4-FFF2-40B4-BE49-F238E27FC236}">
                <a16:creationId xmlns:a16="http://schemas.microsoft.com/office/drawing/2014/main" id="{CD5ACBFE-5F15-9D0F-ECD7-3BBD0DA97D23}"/>
              </a:ext>
            </a:extLst>
          </p:cNvPr>
          <p:cNvGraphicFramePr>
            <a:graphicFrameLocks noGrp="1"/>
          </p:cNvGraphicFramePr>
          <p:nvPr>
            <p:ph idx="1"/>
          </p:nvPr>
        </p:nvGraphicFramePr>
        <p:xfrm>
          <a:off x="376518" y="1370161"/>
          <a:ext cx="11467651" cy="4575810"/>
        </p:xfrm>
        <a:graphic>
          <a:graphicData uri="http://schemas.openxmlformats.org/drawingml/2006/table">
            <a:tbl>
              <a:tblPr firstRow="1" bandRow="1">
                <a:tableStyleId>{5940675A-B579-460E-94D1-54222C63F5DA}</a:tableStyleId>
              </a:tblPr>
              <a:tblGrid>
                <a:gridCol w="484178">
                  <a:extLst>
                    <a:ext uri="{9D8B030D-6E8A-4147-A177-3AD203B41FA5}">
                      <a16:colId xmlns:a16="http://schemas.microsoft.com/office/drawing/2014/main" val="20000"/>
                    </a:ext>
                  </a:extLst>
                </a:gridCol>
                <a:gridCol w="1544363">
                  <a:extLst>
                    <a:ext uri="{9D8B030D-6E8A-4147-A177-3AD203B41FA5}">
                      <a16:colId xmlns:a16="http://schemas.microsoft.com/office/drawing/2014/main" val="20001"/>
                    </a:ext>
                  </a:extLst>
                </a:gridCol>
                <a:gridCol w="1609592">
                  <a:extLst>
                    <a:ext uri="{9D8B030D-6E8A-4147-A177-3AD203B41FA5}">
                      <a16:colId xmlns:a16="http://schemas.microsoft.com/office/drawing/2014/main" val="20002"/>
                    </a:ext>
                  </a:extLst>
                </a:gridCol>
                <a:gridCol w="2099593">
                  <a:extLst>
                    <a:ext uri="{9D8B030D-6E8A-4147-A177-3AD203B41FA5}">
                      <a16:colId xmlns:a16="http://schemas.microsoft.com/office/drawing/2014/main" val="20003"/>
                    </a:ext>
                  </a:extLst>
                </a:gridCol>
                <a:gridCol w="2624501">
                  <a:extLst>
                    <a:ext uri="{9D8B030D-6E8A-4147-A177-3AD203B41FA5}">
                      <a16:colId xmlns:a16="http://schemas.microsoft.com/office/drawing/2014/main" val="2521562181"/>
                    </a:ext>
                  </a:extLst>
                </a:gridCol>
                <a:gridCol w="3105424">
                  <a:extLst>
                    <a:ext uri="{9D8B030D-6E8A-4147-A177-3AD203B41FA5}">
                      <a16:colId xmlns:a16="http://schemas.microsoft.com/office/drawing/2014/main" val="20004"/>
                    </a:ext>
                  </a:extLst>
                </a:gridCol>
              </a:tblGrid>
              <a:tr h="578987">
                <a:tc>
                  <a:txBody>
                    <a:bodyPr/>
                    <a:lstStyle/>
                    <a:p>
                      <a:r>
                        <a:rPr lang="en-IN" sz="1600" b="1" i="0" kern="1200" dirty="0" err="1">
                          <a:solidFill>
                            <a:schemeClr val="tx1"/>
                          </a:solidFill>
                          <a:effectLst/>
                          <a:latin typeface="Times New Roman" panose="02020603050405020304" pitchFamily="18" charset="0"/>
                          <a:cs typeface="Times New Roman" panose="02020603050405020304" pitchFamily="18" charset="0"/>
                        </a:rPr>
                        <a:t>S.No</a:t>
                      </a:r>
                      <a:endParaRPr lang="en-US" sz="1600" i="0" dirty="0">
                        <a:solidFill>
                          <a:schemeClr val="tx1"/>
                        </a:solidFill>
                        <a:latin typeface="Times New Roman" pitchFamily="18" charset="0"/>
                        <a:cs typeface="Times New Roman" pitchFamily="18" charset="0"/>
                      </a:endParaRP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i="0" dirty="0">
                          <a:solidFill>
                            <a:schemeClr val="tx1"/>
                          </a:solidFill>
                          <a:effectLst/>
                          <a:latin typeface="Times New Roman" panose="02020603050405020304" pitchFamily="18" charset="0"/>
                          <a:cs typeface="Times New Roman" panose="02020603050405020304" pitchFamily="18" charset="0"/>
                        </a:rPr>
                        <a:t>Authors</a:t>
                      </a:r>
                      <a:r>
                        <a:rPr lang="en-IN" sz="1600" b="1" i="0" baseline="0" dirty="0">
                          <a:solidFill>
                            <a:schemeClr val="tx1"/>
                          </a:solidFill>
                          <a:effectLst/>
                          <a:latin typeface="Times New Roman" panose="02020603050405020304" pitchFamily="18" charset="0"/>
                          <a:cs typeface="Times New Roman" panose="02020603050405020304" pitchFamily="18" charset="0"/>
                        </a:rPr>
                        <a:t> &amp; Year of  Publication</a:t>
                      </a:r>
                      <a:endParaRPr lang="en-IN" sz="1600" i="0" dirty="0">
                        <a:solidFill>
                          <a:schemeClr val="tx1"/>
                        </a:solidFill>
                        <a:effectLst/>
                        <a:latin typeface="Times New Roman" pitchFamily="18" charset="0"/>
                        <a:ea typeface="Calibri" panose="020F0502020204030204" pitchFamily="34" charset="0"/>
                        <a:cs typeface="Times New Roman" pitchFamily="18" charset="0"/>
                      </a:endParaRPr>
                    </a:p>
                  </a:txBody>
                  <a:tcPr>
                    <a:solidFill>
                      <a:schemeClr val="bg2">
                        <a:lumMod val="75000"/>
                      </a:schemeClr>
                    </a:solidFill>
                  </a:tcPr>
                </a:tc>
                <a:tc>
                  <a:txBody>
                    <a:bodyPr/>
                    <a:lstStyle/>
                    <a:p>
                      <a:pPr algn="ctr"/>
                      <a:r>
                        <a:rPr lang="en-US" sz="1600" b="1" i="0" dirty="0">
                          <a:solidFill>
                            <a:schemeClr val="tx1"/>
                          </a:solidFill>
                          <a:latin typeface="Times New Roman" panose="02020603050405020304" pitchFamily="18" charset="0"/>
                          <a:cs typeface="Times New Roman" panose="02020603050405020304" pitchFamily="18" charset="0"/>
                        </a:rPr>
                        <a:t>Type of publication</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dirty="0">
                          <a:solidFill>
                            <a:schemeClr val="tx1"/>
                          </a:solidFill>
                          <a:latin typeface="Times New Roman" panose="02020603050405020304" pitchFamily="18" charset="0"/>
                          <a:cs typeface="Times New Roman" panose="02020603050405020304" pitchFamily="18" charset="0"/>
                        </a:rPr>
                        <a:t>Title of the paper</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dirty="0">
                          <a:solidFill>
                            <a:schemeClr val="tx1"/>
                          </a:solidFill>
                          <a:latin typeface="Times New Roman" pitchFamily="18" charset="0"/>
                          <a:cs typeface="Times New Roman" pitchFamily="18" charset="0"/>
                        </a:rPr>
                        <a:t>Algorithm</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b="1" i="0" dirty="0">
                        <a:solidFill>
                          <a:schemeClr val="tx1"/>
                        </a:solidFill>
                        <a:latin typeface="Times New Roman" pitchFamily="18" charset="0"/>
                        <a:cs typeface="Times New Roman" pitchFamily="18" charset="0"/>
                      </a:endParaRP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dirty="0">
                          <a:solidFill>
                            <a:schemeClr val="tx1"/>
                          </a:solidFill>
                          <a:latin typeface="Times New Roman" panose="02020603050405020304" pitchFamily="18" charset="0"/>
                          <a:cs typeface="Times New Roman" panose="02020603050405020304" pitchFamily="18" charset="0"/>
                        </a:rPr>
                        <a:t>Advantages &amp;</a:t>
                      </a:r>
                      <a:r>
                        <a:rPr lang="en-US" sz="1600" b="1" i="0" spc="-55" dirty="0">
                          <a:solidFill>
                            <a:schemeClr val="tx1"/>
                          </a:solidFill>
                          <a:latin typeface="Times New Roman" panose="02020603050405020304" pitchFamily="18" charset="0"/>
                          <a:cs typeface="Times New Roman" panose="02020603050405020304" pitchFamily="18" charset="0"/>
                        </a:rPr>
                        <a:t> </a:t>
                      </a:r>
                      <a:r>
                        <a:rPr lang="en-US" sz="1600" b="1" i="0" spc="-10" dirty="0">
                          <a:solidFill>
                            <a:schemeClr val="tx1"/>
                          </a:solidFill>
                          <a:latin typeface="Times New Roman" panose="02020603050405020304" pitchFamily="18" charset="0"/>
                          <a:cs typeface="Times New Roman" panose="02020603050405020304" pitchFamily="18" charset="0"/>
                        </a:rPr>
                        <a:t>Limitations</a:t>
                      </a:r>
                      <a:endParaRPr lang="en-US" sz="1600" i="0" dirty="0">
                        <a:solidFill>
                          <a:schemeClr val="tx1"/>
                        </a:solidFill>
                        <a:latin typeface="Times New Roman" pitchFamily="18" charset="0"/>
                        <a:cs typeface="Times New Roman" pitchFamily="18" charset="0"/>
                      </a:endParaRPr>
                    </a:p>
                  </a:txBody>
                  <a:tcPr>
                    <a:solidFill>
                      <a:schemeClr val="bg2">
                        <a:lumMod val="75000"/>
                      </a:schemeClr>
                    </a:solidFill>
                  </a:tcPr>
                </a:tc>
                <a:extLst>
                  <a:ext uri="{0D108BD9-81ED-4DB2-BD59-A6C34878D82A}">
                    <a16:rowId xmlns:a16="http://schemas.microsoft.com/office/drawing/2014/main" val="10000"/>
                  </a:ext>
                </a:extLst>
              </a:tr>
              <a:tr h="580680">
                <a:tc rowSpan="2">
                  <a:txBody>
                    <a:bodyPr/>
                    <a:lstStyle/>
                    <a:p>
                      <a:pPr algn="ctr">
                        <a:lnSpc>
                          <a:spcPct val="150000"/>
                        </a:lnSpc>
                      </a:pPr>
                      <a:endParaRPr lang="en-US" sz="1600" i="0" dirty="0">
                        <a:solidFill>
                          <a:schemeClr val="tx1"/>
                        </a:solidFill>
                        <a:latin typeface="Times New Roman" pitchFamily="18" charset="0"/>
                        <a:cs typeface="Times New Roman" pitchFamily="18" charset="0"/>
                      </a:endParaRPr>
                    </a:p>
                    <a:p>
                      <a:pPr algn="ctr">
                        <a:lnSpc>
                          <a:spcPct val="150000"/>
                        </a:lnSpc>
                      </a:pPr>
                      <a:r>
                        <a:rPr lang="en-US" sz="1600" i="0" dirty="0">
                          <a:solidFill>
                            <a:schemeClr val="tx1"/>
                          </a:solidFill>
                          <a:latin typeface="Times New Roman" pitchFamily="18" charset="0"/>
                          <a:cs typeface="Times New Roman" pitchFamily="18" charset="0"/>
                        </a:rPr>
                        <a:t>4</a:t>
                      </a:r>
                    </a:p>
                  </a:txBody>
                  <a:tcPr/>
                </a:tc>
                <a:tc rowSpan="2">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IN" sz="1600" dirty="0" err="1">
                          <a:latin typeface="Times New Roman" panose="02020603050405020304" pitchFamily="18" charset="0"/>
                          <a:cs typeface="Times New Roman" panose="02020603050405020304" pitchFamily="18" charset="0"/>
                        </a:rPr>
                        <a:t>Xiaohao</a:t>
                      </a:r>
                      <a:r>
                        <a:rPr lang="en-IN" sz="1600" dirty="0">
                          <a:latin typeface="Times New Roman" panose="02020603050405020304" pitchFamily="18" charset="0"/>
                          <a:cs typeface="Times New Roman" panose="02020603050405020304" pitchFamily="18" charset="0"/>
                        </a:rPr>
                        <a:t> Sun Balakumar Balasingam Year: 2021</a:t>
                      </a:r>
                      <a:endParaRPr lang="en-US" sz="1600" b="0" i="0" dirty="0">
                        <a:solidFill>
                          <a:schemeClr val="tx1"/>
                        </a:solidFill>
                        <a:latin typeface="Times New Roman" pitchFamily="18" charset="0"/>
                        <a:cs typeface="Times New Roman" pitchFamily="18" charset="0"/>
                      </a:endParaRPr>
                    </a:p>
                  </a:txBody>
                  <a:tcPr/>
                </a:tc>
                <a:tc rowSpan="2">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600" i="0" dirty="0">
                          <a:solidFill>
                            <a:schemeClr val="tx1"/>
                          </a:solidFill>
                          <a:latin typeface="Times New Roman" pitchFamily="18" charset="0"/>
                          <a:cs typeface="Times New Roman" pitchFamily="18" charset="0"/>
                        </a:rPr>
                        <a:t>IEEE Transaction on Instrumentation and Measurement</a:t>
                      </a:r>
                    </a:p>
                  </a:txBody>
                  <a:tcPr/>
                </a:tc>
                <a:tc rowSpan="2">
                  <a:txBody>
                    <a:bodyPr/>
                    <a:lstStyle/>
                    <a:p>
                      <a:pPr algn="ctr">
                        <a:lnSpc>
                          <a:spcPct val="150000"/>
                        </a:lnSpc>
                      </a:pPr>
                      <a:r>
                        <a:rPr lang="en-US" sz="1600" dirty="0">
                          <a:latin typeface="Times New Roman" panose="02020603050405020304" pitchFamily="18" charset="0"/>
                          <a:cs typeface="Times New Roman" panose="02020603050405020304" pitchFamily="18" charset="0"/>
                        </a:rPr>
                        <a:t>Reading Line Classification Using Eye-Trackers</a:t>
                      </a:r>
                      <a:endParaRPr lang="en-US" sz="1600" b="0" i="0" dirty="0">
                        <a:solidFill>
                          <a:schemeClr val="tx1"/>
                        </a:solidFill>
                        <a:latin typeface="Times New Roman" pitchFamily="18" charset="0"/>
                        <a:cs typeface="Times New Roman" pitchFamily="18" charset="0"/>
                      </a:endParaRPr>
                    </a:p>
                  </a:txBody>
                  <a:tcPr/>
                </a:tc>
                <a:tc rowSpan="2">
                  <a:txBody>
                    <a:bodyPr/>
                    <a:lstStyle/>
                    <a:p>
                      <a:pPr algn="ctr">
                        <a:lnSpc>
                          <a:spcPct val="150000"/>
                        </a:lnSpc>
                      </a:pPr>
                      <a:r>
                        <a:rPr lang="en-IN" sz="1600" dirty="0">
                          <a:latin typeface="Times New Roman" panose="02020603050405020304" pitchFamily="18" charset="0"/>
                          <a:cs typeface="Times New Roman" panose="02020603050405020304" pitchFamily="18" charset="0"/>
                        </a:rPr>
                        <a:t>Slip-Kalman Smoother (Slip-KS) Gaussian Discriminant Classifier Support Vector Machine (SVM)</a:t>
                      </a:r>
                      <a:endParaRPr lang="en-US" sz="1600" b="0" i="0" dirty="0">
                        <a:solidFill>
                          <a:schemeClr val="tx1"/>
                        </a:solidFill>
                        <a:latin typeface="Times New Roman" pitchFamily="18" charset="0"/>
                        <a:cs typeface="Times New Roman" pitchFamily="18" charset="0"/>
                      </a:endParaRPr>
                    </a:p>
                  </a:txBody>
                  <a:tcPr/>
                </a:tc>
                <a:tc>
                  <a:txBody>
                    <a:bodyPr/>
                    <a:lstStyle/>
                    <a:p>
                      <a:pPr marL="285750" indent="-285750">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Robust compared to traditional methods</a:t>
                      </a:r>
                      <a:endParaRPr lang="en-IN" sz="1600" i="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496780">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US" sz="1600" dirty="0">
                          <a:latin typeface="Times New Roman" panose="02020603050405020304" pitchFamily="18" charset="0"/>
                          <a:cs typeface="Times New Roman" panose="02020603050405020304" pitchFamily="18" charset="0"/>
                        </a:rPr>
                        <a:t>Affected by noise in eye-tracking data</a:t>
                      </a:r>
                      <a:endParaRPr lang="en-US" sz="16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21762208"/>
                  </a:ext>
                </a:extLst>
              </a:tr>
              <a:tr h="563272">
                <a:tc rowSpan="2">
                  <a:txBody>
                    <a:bodyPr/>
                    <a:lstStyle/>
                    <a:p>
                      <a:pPr algn="ctr">
                        <a:lnSpc>
                          <a:spcPct val="150000"/>
                        </a:lnSpc>
                      </a:pPr>
                      <a:endParaRPr lang="en-US" sz="1600" i="0" dirty="0">
                        <a:solidFill>
                          <a:schemeClr val="tx1"/>
                        </a:solidFill>
                        <a:latin typeface="Times New Roman" panose="02020603050405020304" pitchFamily="18" charset="0"/>
                        <a:cs typeface="Times New Roman" panose="02020603050405020304" pitchFamily="18" charset="0"/>
                      </a:endParaRPr>
                    </a:p>
                    <a:p>
                      <a:pPr algn="ctr">
                        <a:lnSpc>
                          <a:spcPct val="150000"/>
                        </a:lnSpc>
                      </a:pPr>
                      <a:r>
                        <a:rPr lang="en-US" sz="1600" i="0" dirty="0">
                          <a:solidFill>
                            <a:schemeClr val="tx1"/>
                          </a:solidFill>
                          <a:latin typeface="Times New Roman" panose="02020603050405020304" pitchFamily="18" charset="0"/>
                          <a:cs typeface="Times New Roman" panose="02020603050405020304" pitchFamily="18" charset="0"/>
                        </a:rPr>
                        <a:t>5</a:t>
                      </a:r>
                    </a:p>
                  </a:txBody>
                  <a:tcPr/>
                </a:tc>
                <a:tc rowSpan="2">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Yiu-ming Cheung </a:t>
                      </a:r>
                      <a:r>
                        <a:rPr lang="en-IN" sz="1600" dirty="0" err="1">
                          <a:latin typeface="Times New Roman" panose="02020603050405020304" pitchFamily="18" charset="0"/>
                          <a:cs typeface="Times New Roman" panose="02020603050405020304" pitchFamily="18" charset="0"/>
                        </a:rPr>
                        <a:t>Qinmu</a:t>
                      </a:r>
                      <a:r>
                        <a:rPr lang="en-IN" sz="1600" dirty="0">
                          <a:latin typeface="Times New Roman" panose="02020603050405020304" pitchFamily="18" charset="0"/>
                          <a:cs typeface="Times New Roman" panose="02020603050405020304" pitchFamily="18" charset="0"/>
                        </a:rPr>
                        <a:t> Peng Year: 2015</a:t>
                      </a:r>
                      <a:endParaRPr lang="en-US" sz="1600" b="0" i="0" dirty="0">
                        <a:solidFill>
                          <a:schemeClr val="tx1"/>
                        </a:solidFill>
                        <a:latin typeface="Times New Roman" pitchFamily="18" charset="0"/>
                        <a:cs typeface="Times New Roman" pitchFamily="18" charset="0"/>
                      </a:endParaRPr>
                    </a:p>
                  </a:txBody>
                  <a:tcPr/>
                </a:tc>
                <a:tc rowSpan="2">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600" i="0" dirty="0">
                          <a:solidFill>
                            <a:schemeClr val="tx1"/>
                          </a:solidFill>
                          <a:latin typeface="Times New Roman" pitchFamily="18" charset="0"/>
                          <a:cs typeface="Times New Roman" pitchFamily="18" charset="0"/>
                        </a:rPr>
                        <a:t>IEEE Transaction on Human-Machine System</a:t>
                      </a:r>
                    </a:p>
                  </a:txBody>
                  <a:tcPr/>
                </a:tc>
                <a:tc rowSpan="2">
                  <a:txBody>
                    <a:bodyPr/>
                    <a:lstStyle/>
                    <a:p>
                      <a:pPr algn="ctr">
                        <a:lnSpc>
                          <a:spcPct val="150000"/>
                        </a:lnSpc>
                      </a:pPr>
                      <a:r>
                        <a:rPr lang="en-US" sz="1600" dirty="0">
                          <a:latin typeface="Times New Roman" panose="02020603050405020304" pitchFamily="18" charset="0"/>
                          <a:cs typeface="Times New Roman" panose="02020603050405020304" pitchFamily="18" charset="0"/>
                        </a:rPr>
                        <a:t>Eye Gaze Tracking With a Web Camera in a Desktop Environment</a:t>
                      </a:r>
                      <a:endParaRPr lang="en-US" sz="1600" b="0" i="0" dirty="0">
                        <a:solidFill>
                          <a:schemeClr val="tx1"/>
                        </a:solidFill>
                        <a:latin typeface="Times New Roman" pitchFamily="18" charset="0"/>
                        <a:cs typeface="Times New Roman" pitchFamily="18" charset="0"/>
                      </a:endParaRPr>
                    </a:p>
                  </a:txBody>
                  <a:tcPr/>
                </a:tc>
                <a:tc rowSpan="2">
                  <a:txBody>
                    <a:bodyPr/>
                    <a:lstStyle/>
                    <a:p>
                      <a:pPr algn="ctr">
                        <a:lnSpc>
                          <a:spcPct val="150000"/>
                        </a:lnSpc>
                      </a:pPr>
                      <a:r>
                        <a:rPr lang="en-US" sz="1600" dirty="0">
                          <a:latin typeface="Times New Roman" panose="02020603050405020304" pitchFamily="18" charset="0"/>
                          <a:cs typeface="Times New Roman" panose="02020603050405020304" pitchFamily="18" charset="0"/>
                        </a:rPr>
                        <a:t>Adaptive Weighted POSIT (AWPOSIT) Active Shape Model (for face &amp; eye detection) Eye Feature Detection</a:t>
                      </a:r>
                      <a:endParaRPr lang="en-US" sz="1600" b="0" i="0" dirty="0">
                        <a:solidFill>
                          <a:schemeClr val="tx1"/>
                        </a:solidFill>
                        <a:latin typeface="Times New Roman" pitchFamily="18" charset="0"/>
                        <a:cs typeface="Times New Roman" pitchFamily="18" charset="0"/>
                      </a:endParaRPr>
                    </a:p>
                  </a:txBody>
                  <a:tcPr/>
                </a:tc>
                <a:tc>
                  <a:txBody>
                    <a:bodyPr/>
                    <a:lstStyle/>
                    <a:p>
                      <a:pPr marL="285750" indent="-285750">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Works under different Sensors</a:t>
                      </a:r>
                      <a:endParaRPr lang="en-IN" sz="1600" i="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03399544"/>
                  </a:ext>
                </a:extLst>
              </a:tr>
              <a:tr h="587796">
                <a:tc vMerge="1">
                  <a:txBody>
                    <a:bodyPr/>
                    <a:lstStyle/>
                    <a:p>
                      <a:endParaRPr lang="en-IN"/>
                    </a:p>
                  </a:txBody>
                  <a:tcPr/>
                </a:tc>
                <a:tc vMerge="1">
                  <a:txBody>
                    <a:bodyPr/>
                    <a:lstStyle/>
                    <a:p>
                      <a:endParaRPr lang="en-IN" dirty="0"/>
                    </a:p>
                  </a:txBody>
                  <a:tcPr/>
                </a:tc>
                <a:tc vMerge="1">
                  <a:txBody>
                    <a:bodyPr/>
                    <a:lstStyle/>
                    <a:p>
                      <a:endParaRPr lang="en-IN"/>
                    </a:p>
                  </a:txBody>
                  <a:tcPr/>
                </a:tc>
                <a:tc vMerge="1">
                  <a:txBody>
                    <a:bodyPr/>
                    <a:lstStyle/>
                    <a:p>
                      <a:endParaRPr lang="en-IN" dirty="0"/>
                    </a:p>
                  </a:txBody>
                  <a:tcPr/>
                </a:tc>
                <a:tc vMerge="1">
                  <a:txBody>
                    <a:bodyPr/>
                    <a:lstStyle/>
                    <a:p>
                      <a:endParaRPr lang="en-IN"/>
                    </a:p>
                  </a:txBody>
                  <a:tcPr/>
                </a:tc>
                <a:tc>
                  <a:txBody>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US" sz="1600" dirty="0">
                          <a:latin typeface="Times New Roman" panose="02020603050405020304" pitchFamily="18" charset="0"/>
                          <a:cs typeface="Times New Roman" panose="02020603050405020304" pitchFamily="18" charset="0"/>
                        </a:rPr>
                        <a:t>Sensitive to extreme head movements</a:t>
                      </a:r>
                      <a:endParaRPr lang="en-US" sz="16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9845293"/>
                  </a:ext>
                </a:extLst>
              </a:tr>
            </a:tbl>
          </a:graphicData>
        </a:graphic>
      </p:graphicFrame>
    </p:spTree>
    <p:extLst>
      <p:ext uri="{BB962C8B-B14F-4D97-AF65-F5344CB8AC3E}">
        <p14:creationId xmlns:p14="http://schemas.microsoft.com/office/powerpoint/2010/main" val="646630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674BF-C65F-D88B-C99B-1B05214714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35AC9B-109E-2560-761C-AD757B16CBE4}"/>
              </a:ext>
            </a:extLst>
          </p:cNvPr>
          <p:cNvSpPr>
            <a:spLocks noGrp="1"/>
          </p:cNvSpPr>
          <p:nvPr>
            <p:ph type="title"/>
          </p:nvPr>
        </p:nvSpPr>
        <p:spPr>
          <a:xfrm>
            <a:off x="863138" y="710845"/>
            <a:ext cx="10515600" cy="665653"/>
          </a:xfrm>
        </p:spPr>
        <p:txBody>
          <a:bodyPr>
            <a:normAutofit/>
          </a:bodyPr>
          <a:lstStyle/>
          <a:p>
            <a:pPr algn="ctr"/>
            <a:r>
              <a:rPr lang="en-US" sz="3500" b="1" dirty="0">
                <a:latin typeface="Times New Roman" panose="02020603050405020304" pitchFamily="18" charset="0"/>
                <a:cs typeface="Times New Roman" panose="02020603050405020304" pitchFamily="18" charset="0"/>
              </a:rPr>
              <a:t>EXISTING SYSTEMS</a:t>
            </a:r>
            <a:endParaRPr lang="en-US" sz="3500" dirty="0"/>
          </a:p>
        </p:txBody>
      </p:sp>
      <p:graphicFrame>
        <p:nvGraphicFramePr>
          <p:cNvPr id="4" name="Content Placeholder 3">
            <a:extLst>
              <a:ext uri="{FF2B5EF4-FFF2-40B4-BE49-F238E27FC236}">
                <a16:creationId xmlns:a16="http://schemas.microsoft.com/office/drawing/2014/main" id="{001D58AE-E99C-02E8-4C73-BB86A7B9D588}"/>
              </a:ext>
            </a:extLst>
          </p:cNvPr>
          <p:cNvGraphicFramePr>
            <a:graphicFrameLocks noGrp="1"/>
          </p:cNvGraphicFramePr>
          <p:nvPr>
            <p:ph idx="1"/>
            <p:extLst>
              <p:ext uri="{D42A27DB-BD31-4B8C-83A1-F6EECF244321}">
                <p14:modId xmlns:p14="http://schemas.microsoft.com/office/powerpoint/2010/main" val="766994300"/>
              </p:ext>
            </p:extLst>
          </p:nvPr>
        </p:nvGraphicFramePr>
        <p:xfrm>
          <a:off x="721440" y="2034631"/>
          <a:ext cx="10798996" cy="2788738"/>
        </p:xfrm>
        <a:graphic>
          <a:graphicData uri="http://schemas.openxmlformats.org/drawingml/2006/table">
            <a:tbl>
              <a:tblPr firstRow="1" bandRow="1">
                <a:tableStyleId>{5940675A-B579-460E-94D1-54222C63F5DA}</a:tableStyleId>
              </a:tblPr>
              <a:tblGrid>
                <a:gridCol w="3159000">
                  <a:extLst>
                    <a:ext uri="{9D8B030D-6E8A-4147-A177-3AD203B41FA5}">
                      <a16:colId xmlns:a16="http://schemas.microsoft.com/office/drawing/2014/main" val="20001"/>
                    </a:ext>
                  </a:extLst>
                </a:gridCol>
                <a:gridCol w="3080895">
                  <a:extLst>
                    <a:ext uri="{9D8B030D-6E8A-4147-A177-3AD203B41FA5}">
                      <a16:colId xmlns:a16="http://schemas.microsoft.com/office/drawing/2014/main" val="20002"/>
                    </a:ext>
                  </a:extLst>
                </a:gridCol>
                <a:gridCol w="4559101">
                  <a:extLst>
                    <a:ext uri="{9D8B030D-6E8A-4147-A177-3AD203B41FA5}">
                      <a16:colId xmlns:a16="http://schemas.microsoft.com/office/drawing/2014/main" val="20003"/>
                    </a:ext>
                  </a:extLst>
                </a:gridCol>
              </a:tblGrid>
              <a:tr h="3692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dirty="0">
                          <a:solidFill>
                            <a:schemeClr val="tx1"/>
                          </a:solidFill>
                          <a:effectLst/>
                          <a:latin typeface="Times New Roman" panose="02020603050405020304" pitchFamily="18" charset="0"/>
                          <a:cs typeface="Times New Roman" panose="02020603050405020304" pitchFamily="18" charset="0"/>
                        </a:rPr>
                        <a:t>Existing System</a:t>
                      </a:r>
                      <a:endParaRPr lang="en-IN" sz="1600" i="0" dirty="0">
                        <a:solidFill>
                          <a:schemeClr val="tx1"/>
                        </a:solidFill>
                        <a:effectLst/>
                        <a:latin typeface="Times New Roman" pitchFamily="18" charset="0"/>
                        <a:ea typeface="Calibri" panose="020F0502020204030204" pitchFamily="34" charset="0"/>
                        <a:cs typeface="Times New Roman" pitchFamily="18" charset="0"/>
                      </a:endParaRPr>
                    </a:p>
                  </a:txBody>
                  <a:tcPr>
                    <a:solidFill>
                      <a:schemeClr val="bg2">
                        <a:lumMod val="75000"/>
                      </a:schemeClr>
                    </a:solidFill>
                  </a:tcPr>
                </a:tc>
                <a:tc>
                  <a:txBody>
                    <a:bodyPr/>
                    <a:lstStyle/>
                    <a:p>
                      <a:pPr algn="ctr"/>
                      <a:r>
                        <a:rPr lang="en-US" sz="1600" b="1" dirty="0">
                          <a:solidFill>
                            <a:schemeClr val="tx1"/>
                          </a:solidFill>
                          <a:latin typeface="Times New Roman" panose="02020603050405020304" pitchFamily="18" charset="0"/>
                          <a:cs typeface="Times New Roman" panose="02020603050405020304" pitchFamily="18" charset="0"/>
                        </a:rPr>
                        <a:t>Limitation</a:t>
                      </a:r>
                      <a:endParaRPr lang="en-US" sz="1600" b="1" i="0" dirty="0">
                        <a:solidFill>
                          <a:schemeClr val="tx1"/>
                        </a:solidFill>
                        <a:latin typeface="Times New Roman" pitchFamily="18" charset="0"/>
                        <a:cs typeface="Times New Roman" pitchFamily="18" charset="0"/>
                      </a:endParaRP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latin typeface="Times New Roman" panose="02020603050405020304" pitchFamily="18" charset="0"/>
                          <a:cs typeface="Times New Roman" panose="02020603050405020304" pitchFamily="18" charset="0"/>
                        </a:rPr>
                        <a:t>Overcome</a:t>
                      </a:r>
                      <a:endParaRPr lang="en-US" sz="1600" b="1" i="0" dirty="0">
                        <a:solidFill>
                          <a:schemeClr val="tx1"/>
                        </a:solidFill>
                        <a:latin typeface="Times New Roman" pitchFamily="18" charset="0"/>
                        <a:cs typeface="Times New Roman" pitchFamily="18" charset="0"/>
                      </a:endParaRPr>
                    </a:p>
                  </a:txBody>
                  <a:tcPr>
                    <a:solidFill>
                      <a:schemeClr val="bg2">
                        <a:lumMod val="75000"/>
                      </a:schemeClr>
                    </a:solidFill>
                  </a:tcPr>
                </a:tc>
                <a:extLst>
                  <a:ext uri="{0D108BD9-81ED-4DB2-BD59-A6C34878D82A}">
                    <a16:rowId xmlns:a16="http://schemas.microsoft.com/office/drawing/2014/main" val="10000"/>
                  </a:ext>
                </a:extLst>
              </a:tr>
              <a:tr h="133200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Eye-Gaze Based Smart Wheelchair Systems</a:t>
                      </a:r>
                      <a:endParaRPr lang="en-IN" sz="1600" i="0" kern="1200" dirty="0">
                        <a:solidFill>
                          <a:schemeClr val="tx1"/>
                        </a:solidFill>
                        <a:effectLst/>
                        <a:latin typeface="Times New Roman" pitchFamily="18" charset="0"/>
                        <a:ea typeface="+mn-ea"/>
                        <a:cs typeface="Times New Roman" pitchFamily="18" charset="0"/>
                      </a:endParaRPr>
                    </a:p>
                  </a:txBody>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Need hardware support, performance unstable in lighting, no emergency blink safety</a:t>
                      </a:r>
                      <a:endParaRPr lang="en-US" sz="1600" i="0" dirty="0">
                        <a:solidFill>
                          <a:schemeClr val="tx1"/>
                        </a:solidFill>
                        <a:latin typeface="Times New Roman" pitchFamily="18" charset="0"/>
                        <a:cs typeface="Times New Roman" pitchFamily="18" charset="0"/>
                      </a:endParaRPr>
                    </a:p>
                  </a:txBody>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Fully software-based, stable real-time AI gaze tracking, </a:t>
                      </a:r>
                      <a:r>
                        <a:rPr lang="en-US" sz="1600" b="0" dirty="0">
                          <a:latin typeface="Times New Roman" panose="02020603050405020304" pitchFamily="18" charset="0"/>
                          <a:cs typeface="Times New Roman" panose="02020603050405020304" pitchFamily="18" charset="0"/>
                        </a:rPr>
                        <a:t>blink emergency stop</a:t>
                      </a:r>
                      <a:endParaRPr lang="en-IN" sz="1600" b="0" i="0" kern="1200" dirty="0">
                        <a:solidFill>
                          <a:schemeClr val="tx1"/>
                        </a:solidFill>
                        <a:effectLst/>
                        <a:latin typeface="Times New Roman" pitchFamily="18" charset="0"/>
                        <a:ea typeface="+mn-ea"/>
                        <a:cs typeface="Times New Roman" pitchFamily="18" charset="0"/>
                      </a:endParaRPr>
                    </a:p>
                  </a:txBody>
                  <a:tcPr/>
                </a:tc>
                <a:extLst>
                  <a:ext uri="{0D108BD9-81ED-4DB2-BD59-A6C34878D82A}">
                    <a16:rowId xmlns:a16="http://schemas.microsoft.com/office/drawing/2014/main" val="10002"/>
                  </a:ext>
                </a:extLst>
              </a:tr>
              <a:tr h="1087446">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Deep Learning-Based Eye Blink Detection in Video Frames</a:t>
                      </a:r>
                      <a:endParaRPr lang="en-IN" sz="16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Sensitive to lighting and background variations</a:t>
                      </a:r>
                      <a:endParaRPr lang="en-IN" sz="16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More stable in varying lighting conditions and Adds blink emergency stop for safety</a:t>
                      </a:r>
                      <a:endParaRPr lang="en-IN" sz="1600" i="0" kern="1200" dirty="0">
                        <a:solidFill>
                          <a:schemeClr val="tx1"/>
                        </a:solidFill>
                        <a:effectLst/>
                        <a:latin typeface="Times New Roman" pitchFamily="18" charset="0"/>
                        <a:ea typeface="+mn-ea"/>
                        <a:cs typeface="Times New Roman" pitchFamily="18" charset="0"/>
                      </a:endParaRPr>
                    </a:p>
                  </a:txBody>
                  <a:tcPr/>
                </a:tc>
                <a:extLst>
                  <a:ext uri="{0D108BD9-81ED-4DB2-BD59-A6C34878D82A}">
                    <a16:rowId xmlns:a16="http://schemas.microsoft.com/office/drawing/2014/main" val="703399544"/>
                  </a:ext>
                </a:extLst>
              </a:tr>
            </a:tbl>
          </a:graphicData>
        </a:graphic>
      </p:graphicFrame>
    </p:spTree>
    <p:extLst>
      <p:ext uri="{BB962C8B-B14F-4D97-AF65-F5344CB8AC3E}">
        <p14:creationId xmlns:p14="http://schemas.microsoft.com/office/powerpoint/2010/main" val="27889033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016" y="422893"/>
            <a:ext cx="10965395" cy="837509"/>
          </a:xfrm>
        </p:spPr>
        <p:txBody>
          <a:bodyPr>
            <a:normAutofit/>
          </a:bodyPr>
          <a:lstStyle/>
          <a:p>
            <a:pPr algn="ctr"/>
            <a:r>
              <a:rPr lang="en-US" sz="3500" b="1" dirty="0">
                <a:latin typeface="Times New Roman" pitchFamily="18" charset="0"/>
                <a:cs typeface="Times New Roman" pitchFamily="18" charset="0"/>
              </a:rPr>
              <a:t>DISADVANTAGES</a:t>
            </a:r>
          </a:p>
        </p:txBody>
      </p:sp>
      <p:sp>
        <p:nvSpPr>
          <p:cNvPr id="6" name="Rectangle 3">
            <a:extLst>
              <a:ext uri="{FF2B5EF4-FFF2-40B4-BE49-F238E27FC236}">
                <a16:creationId xmlns:a16="http://schemas.microsoft.com/office/drawing/2014/main" id="{9E23479E-1BA0-DD47-48D9-4469ACFF0AD8}"/>
              </a:ext>
            </a:extLst>
          </p:cNvPr>
          <p:cNvSpPr>
            <a:spLocks noGrp="1" noChangeArrowheads="1"/>
          </p:cNvSpPr>
          <p:nvPr>
            <p:ph idx="1"/>
          </p:nvPr>
        </p:nvSpPr>
        <p:spPr bwMode="auto">
          <a:xfrm>
            <a:off x="950446" y="1260402"/>
            <a:ext cx="10291107" cy="5396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71463" marR="0" lvl="0" indent="-271463" fontAlgn="base">
              <a:lnSpc>
                <a:spcPct val="150000"/>
              </a:lnSpc>
              <a:spcAft>
                <a:spcPct val="0"/>
              </a:spcAft>
              <a:buClrTx/>
              <a:buSzTx/>
              <a:tabLst/>
            </a:pPr>
            <a:r>
              <a:rPr lang="en-US" altLang="en-US" sz="2400" b="1" dirty="0">
                <a:latin typeface="Times New Roman" panose="02020603050405020304" pitchFamily="18" charset="0"/>
                <a:cs typeface="Times New Roman" panose="02020603050405020304" pitchFamily="18" charset="0"/>
              </a:rPr>
              <a:t>Lighting sensitivity - </a:t>
            </a:r>
            <a:r>
              <a:rPr lang="en-US" altLang="en-US" sz="2400" dirty="0">
                <a:latin typeface="Times New Roman" panose="02020603050405020304" pitchFamily="18" charset="0"/>
                <a:cs typeface="Times New Roman" panose="02020603050405020304" pitchFamily="18" charset="0"/>
              </a:rPr>
              <a:t>Performance suffers in darkness, shadows or when lighting conditions change abruptly, with implications for accurate eye detection and tracking.</a:t>
            </a:r>
          </a:p>
          <a:p>
            <a:pPr marL="271463" marR="0" lvl="0" indent="-271463" fontAlgn="base">
              <a:lnSpc>
                <a:spcPct val="150000"/>
              </a:lnSpc>
              <a:spcAft>
                <a:spcPct val="0"/>
              </a:spcAft>
              <a:buClrTx/>
              <a:buSzTx/>
              <a:tabLst/>
            </a:pPr>
            <a:r>
              <a:rPr lang="en-US" altLang="en-US" sz="2400" b="1" dirty="0">
                <a:latin typeface="Times New Roman" panose="02020603050405020304" pitchFamily="18" charset="0"/>
                <a:cs typeface="Times New Roman" panose="02020603050405020304" pitchFamily="18" charset="0"/>
              </a:rPr>
              <a:t>Head movement limitations - </a:t>
            </a:r>
            <a:r>
              <a:rPr lang="en-US" altLang="en-US" sz="2400" dirty="0">
                <a:latin typeface="Times New Roman" panose="02020603050405020304" pitchFamily="18" charset="0"/>
                <a:cs typeface="Times New Roman" panose="02020603050405020304" pitchFamily="18" charset="0"/>
              </a:rPr>
              <a:t>When the user moves their head, consistent tracking is difficult to maintain leading to incorrect gaze estimation.</a:t>
            </a:r>
          </a:p>
          <a:p>
            <a:pPr marL="271463" marR="0" lvl="0" indent="-271463" fontAlgn="base">
              <a:lnSpc>
                <a:spcPct val="150000"/>
              </a:lnSpc>
              <a:spcAft>
                <a:spcPct val="0"/>
              </a:spcAft>
              <a:buClrTx/>
              <a:buSzTx/>
              <a:tabLst/>
            </a:pPr>
            <a:r>
              <a:rPr lang="en-US" altLang="en-US" sz="2400" b="1" dirty="0">
                <a:latin typeface="Times New Roman" panose="02020603050405020304" pitchFamily="18" charset="0"/>
                <a:cs typeface="Times New Roman" panose="02020603050405020304" pitchFamily="18" charset="0"/>
              </a:rPr>
              <a:t>Threshold dependency - </a:t>
            </a:r>
            <a:r>
              <a:rPr lang="en-US" altLang="en-US" sz="2400" dirty="0">
                <a:latin typeface="Times New Roman" panose="02020603050405020304" pitchFamily="18" charset="0"/>
                <a:cs typeface="Times New Roman" panose="02020603050405020304" pitchFamily="18" charset="0"/>
              </a:rPr>
              <a:t>Blink detection methods such as EAR require exact threshold tuning and may differ between users and settings.</a:t>
            </a:r>
          </a:p>
          <a:p>
            <a:pPr marL="271463" marR="0" lvl="0" indent="-271463" fontAlgn="base">
              <a:lnSpc>
                <a:spcPct val="150000"/>
              </a:lnSpc>
              <a:spcAft>
                <a:spcPct val="0"/>
              </a:spcAft>
              <a:buClrTx/>
              <a:buSzTx/>
              <a:tabLst/>
            </a:pPr>
            <a:r>
              <a:rPr lang="en-US" altLang="en-US" sz="2400" b="1" dirty="0">
                <a:latin typeface="Times New Roman" panose="02020603050405020304" pitchFamily="18" charset="0"/>
                <a:cs typeface="Times New Roman" panose="02020603050405020304" pitchFamily="18" charset="0"/>
              </a:rPr>
              <a:t>Occlusion challenges - </a:t>
            </a:r>
            <a:r>
              <a:rPr lang="en-US" altLang="en-US" sz="2400" dirty="0">
                <a:latin typeface="Times New Roman" panose="02020603050405020304" pitchFamily="18" charset="0"/>
                <a:cs typeface="Times New Roman" panose="02020603050405020304" pitchFamily="18" charset="0"/>
              </a:rPr>
              <a:t>We have difficulty in identifying the eye when it is partially blocked by glasses, hair, or reflections.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715F9-ED05-490C-828D-5C25BC17B8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A98AA7-9C6F-2ED1-1A31-1087F098E5C3}"/>
              </a:ext>
            </a:extLst>
          </p:cNvPr>
          <p:cNvSpPr>
            <a:spLocks noGrp="1"/>
          </p:cNvSpPr>
          <p:nvPr>
            <p:ph type="title"/>
          </p:nvPr>
        </p:nvSpPr>
        <p:spPr>
          <a:xfrm>
            <a:off x="838200" y="655584"/>
            <a:ext cx="10515600" cy="538517"/>
          </a:xfrm>
        </p:spPr>
        <p:txBody>
          <a:bodyPr>
            <a:noAutofit/>
          </a:bodyPr>
          <a:lstStyle/>
          <a:p>
            <a:pPr algn="ctr"/>
            <a:r>
              <a:rPr lang="en-US" sz="3500" b="1" dirty="0">
                <a:latin typeface="Times New Roman" pitchFamily="18" charset="0"/>
                <a:cs typeface="Times New Roman" pitchFamily="18" charset="0"/>
              </a:rPr>
              <a:t>ARCHITECTURE DIAGRAM</a:t>
            </a:r>
          </a:p>
        </p:txBody>
      </p:sp>
      <p:sp>
        <p:nvSpPr>
          <p:cNvPr id="5" name="AutoShape 2">
            <a:extLst>
              <a:ext uri="{FF2B5EF4-FFF2-40B4-BE49-F238E27FC236}">
                <a16:creationId xmlns:a16="http://schemas.microsoft.com/office/drawing/2014/main" id="{170B82AB-C720-4E0F-353C-D0F25EB3F32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969212A8-374A-F108-2EB6-1F07E97AF28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676000" y="1519845"/>
            <a:ext cx="6840000" cy="4694636"/>
          </a:xfrm>
          <a:prstGeom prst="rect">
            <a:avLst/>
          </a:prstGeom>
          <a:ln>
            <a:solidFill>
              <a:schemeClr val="tx1"/>
            </a:solidFill>
          </a:ln>
        </p:spPr>
      </p:pic>
    </p:spTree>
    <p:extLst>
      <p:ext uri="{BB962C8B-B14F-4D97-AF65-F5344CB8AC3E}">
        <p14:creationId xmlns:p14="http://schemas.microsoft.com/office/powerpoint/2010/main" val="405349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454EB-B478-7A23-DCD2-827487316B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A45887-F5DA-079F-1FB2-8B090825E1D1}"/>
              </a:ext>
            </a:extLst>
          </p:cNvPr>
          <p:cNvSpPr>
            <a:spLocks noGrp="1"/>
          </p:cNvSpPr>
          <p:nvPr>
            <p:ph type="title"/>
          </p:nvPr>
        </p:nvSpPr>
        <p:spPr>
          <a:xfrm>
            <a:off x="868016" y="422893"/>
            <a:ext cx="10965395" cy="837509"/>
          </a:xfrm>
        </p:spPr>
        <p:txBody>
          <a:bodyPr>
            <a:normAutofit/>
          </a:bodyPr>
          <a:lstStyle/>
          <a:p>
            <a:pPr algn="ctr"/>
            <a:r>
              <a:rPr lang="en-US" sz="3500" b="1" dirty="0">
                <a:latin typeface="Times New Roman" pitchFamily="18" charset="0"/>
                <a:cs typeface="Times New Roman" pitchFamily="18" charset="0"/>
              </a:rPr>
              <a:t>PROPOSED SYSTEM</a:t>
            </a:r>
          </a:p>
        </p:txBody>
      </p:sp>
      <p:sp>
        <p:nvSpPr>
          <p:cNvPr id="6" name="Rectangle 3">
            <a:extLst>
              <a:ext uri="{FF2B5EF4-FFF2-40B4-BE49-F238E27FC236}">
                <a16:creationId xmlns:a16="http://schemas.microsoft.com/office/drawing/2014/main" id="{BC8E8EFE-7AA9-43B1-A5AF-88FF5F5464F6}"/>
              </a:ext>
            </a:extLst>
          </p:cNvPr>
          <p:cNvSpPr>
            <a:spLocks noGrp="1" noChangeArrowheads="1"/>
          </p:cNvSpPr>
          <p:nvPr>
            <p:ph idx="1"/>
          </p:nvPr>
        </p:nvSpPr>
        <p:spPr bwMode="auto">
          <a:xfrm>
            <a:off x="918367" y="1400656"/>
            <a:ext cx="10291107" cy="4416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71463" marR="0" lvl="0" indent="-271463" fontAlgn="base">
              <a:lnSpc>
                <a:spcPct val="150000"/>
              </a:lnSpc>
              <a:spcAft>
                <a:spcPct val="0"/>
              </a:spcAft>
              <a:buClrTx/>
              <a:buSzTx/>
              <a:tabLst/>
            </a:pPr>
            <a:r>
              <a:rPr lang="en-US" altLang="en-US" sz="2400" dirty="0">
                <a:latin typeface="Times New Roman" panose="02020603050405020304" pitchFamily="18" charset="0"/>
                <a:cs typeface="Times New Roman" panose="02020603050405020304" pitchFamily="18" charset="0"/>
              </a:rPr>
              <a:t>The system uses eye-tracking software to control the wheelchair using eye movements.</a:t>
            </a:r>
          </a:p>
          <a:p>
            <a:pPr marL="271463" marR="0" lvl="0" indent="-271463" fontAlgn="base">
              <a:lnSpc>
                <a:spcPct val="150000"/>
              </a:lnSpc>
              <a:spcAft>
                <a:spcPct val="0"/>
              </a:spcAft>
              <a:buClrTx/>
              <a:buSzTx/>
              <a:tabLst/>
            </a:pPr>
            <a:r>
              <a:rPr lang="en-US" altLang="en-US" sz="2400" dirty="0">
                <a:latin typeface="Times New Roman" panose="02020603050405020304" pitchFamily="18" charset="0"/>
                <a:cs typeface="Times New Roman" panose="02020603050405020304" pitchFamily="18" charset="0"/>
              </a:rPr>
              <a:t>Python and OpenCV detect gaze direction and blinks in real time.</a:t>
            </a:r>
          </a:p>
          <a:p>
            <a:pPr marL="271463" marR="0" lvl="0" indent="-271463" fontAlgn="base">
              <a:lnSpc>
                <a:spcPct val="150000"/>
              </a:lnSpc>
              <a:spcAft>
                <a:spcPct val="0"/>
              </a:spcAft>
              <a:buClrTx/>
              <a:buSzTx/>
              <a:tabLst/>
            </a:pPr>
            <a:r>
              <a:rPr lang="en-US" altLang="en-US" sz="2400" dirty="0">
                <a:latin typeface="Times New Roman" panose="02020603050405020304" pitchFamily="18" charset="0"/>
                <a:cs typeface="Times New Roman" panose="02020603050405020304" pitchFamily="18" charset="0"/>
              </a:rPr>
              <a:t>Eye gaze is used to move the wheelchair forward, left, right, or stop.</a:t>
            </a:r>
          </a:p>
          <a:p>
            <a:pPr marL="271463" marR="0" lvl="0" indent="-271463" fontAlgn="base">
              <a:lnSpc>
                <a:spcPct val="150000"/>
              </a:lnSpc>
              <a:spcAft>
                <a:spcPct val="0"/>
              </a:spcAft>
              <a:buClrTx/>
              <a:buSzTx/>
              <a:tabLst/>
            </a:pPr>
            <a:r>
              <a:rPr lang="en-US" altLang="en-US" sz="2400" dirty="0">
                <a:latin typeface="Times New Roman" panose="02020603050405020304" pitchFamily="18" charset="0"/>
                <a:cs typeface="Times New Roman" panose="02020603050405020304" pitchFamily="18" charset="0"/>
              </a:rPr>
              <a:t>Users can scroll and read PDF documents using only their eye movements.</a:t>
            </a:r>
          </a:p>
          <a:p>
            <a:pPr marL="271463" marR="0" lvl="0" indent="-271463" fontAlgn="base">
              <a:lnSpc>
                <a:spcPct val="150000"/>
              </a:lnSpc>
              <a:spcAft>
                <a:spcPct val="0"/>
              </a:spcAft>
              <a:buClrTx/>
              <a:buSzTx/>
              <a:tabLst/>
            </a:pPr>
            <a:r>
              <a:rPr lang="en-US" altLang="en-US" sz="2400" dirty="0">
                <a:latin typeface="Times New Roman" panose="02020603050405020304" pitchFamily="18" charset="0"/>
                <a:cs typeface="Times New Roman" panose="02020603050405020304" pitchFamily="18" charset="0"/>
              </a:rPr>
              <a:t>The system aims to improve user independence and reduce the need for caregiver support.</a:t>
            </a:r>
          </a:p>
        </p:txBody>
      </p:sp>
    </p:spTree>
    <p:extLst>
      <p:ext uri="{BB962C8B-B14F-4D97-AF65-F5344CB8AC3E}">
        <p14:creationId xmlns:p14="http://schemas.microsoft.com/office/powerpoint/2010/main" val="2967241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2AABC-5A64-99A3-1E85-B06FFB665249}"/>
              </a:ext>
            </a:extLst>
          </p:cNvPr>
          <p:cNvSpPr>
            <a:spLocks noGrp="1"/>
          </p:cNvSpPr>
          <p:nvPr>
            <p:ph type="title"/>
          </p:nvPr>
        </p:nvSpPr>
        <p:spPr/>
        <p:txBody>
          <a:bodyPr>
            <a:normAutofit/>
          </a:bodyPr>
          <a:lstStyle/>
          <a:p>
            <a:pPr algn="ctr"/>
            <a:r>
              <a:rPr lang="en-US" sz="3500" b="1" dirty="0">
                <a:latin typeface="Times New Roman" pitchFamily="18" charset="0"/>
                <a:cs typeface="Times New Roman" pitchFamily="18" charset="0"/>
              </a:rPr>
              <a:t>ADVANTAGES</a:t>
            </a:r>
            <a:endParaRPr lang="en-IN" sz="3500" b="1" dirty="0">
              <a:latin typeface="Times New Roman" pitchFamily="18" charset="0"/>
              <a:cs typeface="Times New Roman" pitchFamily="18" charset="0"/>
            </a:endParaRPr>
          </a:p>
        </p:txBody>
      </p:sp>
      <p:sp>
        <p:nvSpPr>
          <p:cNvPr id="13" name="Rectangle 3">
            <a:extLst>
              <a:ext uri="{FF2B5EF4-FFF2-40B4-BE49-F238E27FC236}">
                <a16:creationId xmlns:a16="http://schemas.microsoft.com/office/drawing/2014/main" id="{22FD768E-08A5-FCF9-77E6-FA2D426EA972}"/>
              </a:ext>
            </a:extLst>
          </p:cNvPr>
          <p:cNvSpPr>
            <a:spLocks noGrp="1" noChangeArrowheads="1"/>
          </p:cNvSpPr>
          <p:nvPr>
            <p:ph idx="1"/>
          </p:nvPr>
        </p:nvSpPr>
        <p:spPr bwMode="auto">
          <a:xfrm>
            <a:off x="1311536" y="1879853"/>
            <a:ext cx="6167073" cy="2241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Hands-free control for mobility and documents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Low-cost, software-based system</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Safe and reliable with blink emergency feature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Integrated and easy to use</a:t>
            </a:r>
          </a:p>
        </p:txBody>
      </p:sp>
    </p:spTree>
    <p:extLst>
      <p:ext uri="{BB962C8B-B14F-4D97-AF65-F5344CB8AC3E}">
        <p14:creationId xmlns:p14="http://schemas.microsoft.com/office/powerpoint/2010/main" val="268009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73916"/>
            <a:ext cx="10515600" cy="560033"/>
          </a:xfrm>
        </p:spPr>
        <p:txBody>
          <a:bodyPr>
            <a:noAutofit/>
          </a:bodyPr>
          <a:lstStyle/>
          <a:p>
            <a:pPr algn="ctr"/>
            <a:r>
              <a:rPr lang="en-US" sz="3500" b="1" dirty="0">
                <a:latin typeface="Times New Roman" panose="02020603050405020304" pitchFamily="18" charset="0"/>
                <a:cs typeface="Times New Roman" panose="02020603050405020304" pitchFamily="18" charset="0"/>
              </a:rPr>
              <a:t>REQUIREMENTS</a:t>
            </a:r>
            <a:endParaRPr lang="en-US" sz="3500" dirty="0"/>
          </a:p>
        </p:txBody>
      </p:sp>
      <p:sp>
        <p:nvSpPr>
          <p:cNvPr id="3" name="TextBox 2">
            <a:extLst>
              <a:ext uri="{FF2B5EF4-FFF2-40B4-BE49-F238E27FC236}">
                <a16:creationId xmlns:a16="http://schemas.microsoft.com/office/drawing/2014/main" id="{3B73E453-AC37-A4B3-EEB7-1A94437BC033}"/>
              </a:ext>
            </a:extLst>
          </p:cNvPr>
          <p:cNvSpPr txBox="1"/>
          <p:nvPr/>
        </p:nvSpPr>
        <p:spPr>
          <a:xfrm>
            <a:off x="1258646" y="1474046"/>
            <a:ext cx="8003688" cy="2437655"/>
          </a:xfrm>
          <a:prstGeom prst="rect">
            <a:avLst/>
          </a:prstGeom>
          <a:noFill/>
        </p:spPr>
        <p:txBody>
          <a:bodyPr wrap="square" rtlCol="0">
            <a:spAutoFit/>
          </a:bodyPr>
          <a:lstStyle/>
          <a:p>
            <a:pPr>
              <a:lnSpc>
                <a:spcPct val="150000"/>
              </a:lnSpc>
            </a:pPr>
            <a:r>
              <a:rPr lang="en-IN" sz="2400" dirty="0">
                <a:solidFill>
                  <a:srgbClr val="FF0000"/>
                </a:solidFill>
                <a:latin typeface="Times New Roman" panose="02020603050405020304" pitchFamily="18" charset="0"/>
                <a:cs typeface="Times New Roman" panose="02020603050405020304" pitchFamily="18" charset="0"/>
              </a:rPr>
              <a:t>HARDWARE</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Devices                   -  Computer/Laptop (windows 11)</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Processor                -  Intel i3 or above</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RAM                       -  Minimum 4GB</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Camera                   -  HD Webcam</a:t>
            </a:r>
          </a:p>
        </p:txBody>
      </p:sp>
      <p:sp>
        <p:nvSpPr>
          <p:cNvPr id="7" name="TextBox 6">
            <a:extLst>
              <a:ext uri="{FF2B5EF4-FFF2-40B4-BE49-F238E27FC236}">
                <a16:creationId xmlns:a16="http://schemas.microsoft.com/office/drawing/2014/main" id="{02E4CD9E-AE76-7892-E5C3-5EC3E079BBF5}"/>
              </a:ext>
            </a:extLst>
          </p:cNvPr>
          <p:cNvSpPr txBox="1"/>
          <p:nvPr/>
        </p:nvSpPr>
        <p:spPr>
          <a:xfrm>
            <a:off x="1258646" y="3918376"/>
            <a:ext cx="8003688" cy="2437655"/>
          </a:xfrm>
          <a:prstGeom prst="rect">
            <a:avLst/>
          </a:prstGeom>
          <a:noFill/>
        </p:spPr>
        <p:txBody>
          <a:bodyPr wrap="square" rtlCol="0">
            <a:spAutoFit/>
          </a:bodyPr>
          <a:lstStyle/>
          <a:p>
            <a:pPr>
              <a:lnSpc>
                <a:spcPct val="150000"/>
              </a:lnSpc>
            </a:pPr>
            <a:r>
              <a:rPr lang="en-IN" sz="2400" dirty="0">
                <a:solidFill>
                  <a:srgbClr val="FF0000"/>
                </a:solidFill>
                <a:latin typeface="Times New Roman" panose="02020603050405020304" pitchFamily="18" charset="0"/>
                <a:cs typeface="Times New Roman" panose="02020603050405020304" pitchFamily="18" charset="0"/>
              </a:rPr>
              <a:t>SOFTWARE</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Language               -  Python</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Model                    -  </a:t>
            </a:r>
            <a:r>
              <a:rPr lang="en-IN" sz="2000" dirty="0" err="1">
                <a:latin typeface="Times New Roman" panose="02020603050405020304" pitchFamily="18" charset="0"/>
                <a:cs typeface="Times New Roman" panose="02020603050405020304" pitchFamily="18" charset="0"/>
              </a:rPr>
              <a:t>MediaPipe</a:t>
            </a:r>
            <a:r>
              <a:rPr lang="en-IN" sz="2000" dirty="0">
                <a:latin typeface="Times New Roman" panose="02020603050405020304" pitchFamily="18" charset="0"/>
                <a:cs typeface="Times New Roman" panose="02020603050405020304" pitchFamily="18" charset="0"/>
              </a:rPr>
              <a:t> / Haar </a:t>
            </a:r>
            <a:r>
              <a:rPr lang="en-IN" sz="2000" dirty="0" err="1">
                <a:latin typeface="Times New Roman" panose="02020603050405020304" pitchFamily="18" charset="0"/>
                <a:cs typeface="Times New Roman" panose="02020603050405020304" pitchFamily="18" charset="0"/>
              </a:rPr>
              <a:t>CasCade</a:t>
            </a:r>
            <a:endParaRPr lang="en-IN"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Libraries                -  OpenCV , NumPy , </a:t>
            </a:r>
            <a:r>
              <a:rPr lang="en-IN" sz="2000" dirty="0" err="1">
                <a:latin typeface="Times New Roman" panose="02020603050405020304" pitchFamily="18" charset="0"/>
                <a:cs typeface="Times New Roman" panose="02020603050405020304" pitchFamily="18" charset="0"/>
              </a:rPr>
              <a:t>Tensorflow</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Keras</a:t>
            </a:r>
            <a:endParaRPr lang="en-IN"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IDE                        -  Visual Studio Code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BBB8E-3596-366B-9EEB-023A6884C1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8354EE-2AA8-5C51-05CD-8184A004D948}"/>
              </a:ext>
            </a:extLst>
          </p:cNvPr>
          <p:cNvSpPr>
            <a:spLocks noGrp="1"/>
          </p:cNvSpPr>
          <p:nvPr>
            <p:ph type="title"/>
          </p:nvPr>
        </p:nvSpPr>
        <p:spPr>
          <a:xfrm>
            <a:off x="838200" y="773916"/>
            <a:ext cx="10515600" cy="560033"/>
          </a:xfrm>
        </p:spPr>
        <p:txBody>
          <a:bodyPr>
            <a:noAutofit/>
          </a:bodyPr>
          <a:lstStyle/>
          <a:p>
            <a:pPr algn="ctr"/>
            <a:r>
              <a:rPr lang="en-US" sz="3500" b="1" dirty="0">
                <a:latin typeface="Times New Roman" panose="02020603050405020304" pitchFamily="18" charset="0"/>
                <a:cs typeface="Times New Roman" panose="02020603050405020304" pitchFamily="18" charset="0"/>
              </a:rPr>
              <a:t>DATA FLOW DIAGRAM : LEVEL 0</a:t>
            </a:r>
            <a:endParaRPr lang="en-US" sz="3500" dirty="0"/>
          </a:p>
        </p:txBody>
      </p:sp>
      <p:pic>
        <p:nvPicPr>
          <p:cNvPr id="4" name="Image 16">
            <a:extLst>
              <a:ext uri="{FF2B5EF4-FFF2-40B4-BE49-F238E27FC236}">
                <a16:creationId xmlns:a16="http://schemas.microsoft.com/office/drawing/2014/main" id="{6DBBC4B3-2232-E910-1493-3B8692297CD7}"/>
              </a:ext>
            </a:extLst>
          </p:cNvPr>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2778989" y="1616710"/>
            <a:ext cx="6634021" cy="4784090"/>
          </a:xfrm>
          <a:prstGeom prst="rect">
            <a:avLst/>
          </a:prstGeom>
          <a:ln>
            <a:solidFill>
              <a:schemeClr val="tx1"/>
            </a:solidFill>
          </a:ln>
        </p:spPr>
      </p:pic>
    </p:spTree>
    <p:extLst>
      <p:ext uri="{BB962C8B-B14F-4D97-AF65-F5344CB8AC3E}">
        <p14:creationId xmlns:p14="http://schemas.microsoft.com/office/powerpoint/2010/main" val="2589711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758CD-C6CC-3C32-0A68-2523F9FA5B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268D60-6E8E-A9E4-7474-7E14B639E4EA}"/>
              </a:ext>
            </a:extLst>
          </p:cNvPr>
          <p:cNvSpPr>
            <a:spLocks noGrp="1"/>
          </p:cNvSpPr>
          <p:nvPr>
            <p:ph type="title"/>
          </p:nvPr>
        </p:nvSpPr>
        <p:spPr>
          <a:xfrm>
            <a:off x="838200" y="773916"/>
            <a:ext cx="10515600" cy="560033"/>
          </a:xfrm>
        </p:spPr>
        <p:txBody>
          <a:bodyPr>
            <a:noAutofit/>
          </a:bodyPr>
          <a:lstStyle/>
          <a:p>
            <a:pPr algn="ctr"/>
            <a:r>
              <a:rPr lang="en-US" sz="3500" b="1" dirty="0">
                <a:latin typeface="Times New Roman" panose="02020603050405020304" pitchFamily="18" charset="0"/>
                <a:cs typeface="Times New Roman" panose="02020603050405020304" pitchFamily="18" charset="0"/>
              </a:rPr>
              <a:t>DATA FLOW DIAGRAM : LEVEL 1</a:t>
            </a:r>
            <a:endParaRPr lang="en-US" sz="3500" dirty="0"/>
          </a:p>
        </p:txBody>
      </p:sp>
      <p:pic>
        <p:nvPicPr>
          <p:cNvPr id="3" name="Image 17">
            <a:extLst>
              <a:ext uri="{FF2B5EF4-FFF2-40B4-BE49-F238E27FC236}">
                <a16:creationId xmlns:a16="http://schemas.microsoft.com/office/drawing/2014/main" id="{2B895CC3-DFE3-745A-9C60-A15E50841E49}"/>
              </a:ext>
            </a:extLst>
          </p:cNvPr>
          <p:cNvPicPr>
            <a:picLocks/>
          </p:cNvPicPr>
          <p:nvPr/>
        </p:nvPicPr>
        <p:blipFill>
          <a:blip r:embed="rId2">
            <a:extLst>
              <a:ext uri="{28A0092B-C50C-407E-A947-70E740481C1C}">
                <a14:useLocalDpi xmlns:a14="http://schemas.microsoft.com/office/drawing/2010/main" val="0"/>
              </a:ext>
            </a:extLst>
          </a:blip>
          <a:srcRect/>
          <a:stretch/>
        </p:blipFill>
        <p:spPr>
          <a:xfrm>
            <a:off x="3385587" y="1333949"/>
            <a:ext cx="5420826" cy="5420826"/>
          </a:xfrm>
          <a:prstGeom prst="rect">
            <a:avLst/>
          </a:prstGeom>
          <a:ln>
            <a:solidFill>
              <a:schemeClr val="tx1"/>
            </a:solidFill>
          </a:ln>
        </p:spPr>
      </p:pic>
    </p:spTree>
    <p:extLst>
      <p:ext uri="{BB962C8B-B14F-4D97-AF65-F5344CB8AC3E}">
        <p14:creationId xmlns:p14="http://schemas.microsoft.com/office/powerpoint/2010/main" val="2447639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D849B-F3DA-FBA8-833A-EE8A184567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5933B6-4B8B-4950-052B-867D9FF2A4A9}"/>
              </a:ext>
            </a:extLst>
          </p:cNvPr>
          <p:cNvSpPr>
            <a:spLocks noGrp="1"/>
          </p:cNvSpPr>
          <p:nvPr>
            <p:ph type="title"/>
          </p:nvPr>
        </p:nvSpPr>
        <p:spPr>
          <a:xfrm>
            <a:off x="838200" y="773916"/>
            <a:ext cx="10515600" cy="560033"/>
          </a:xfrm>
        </p:spPr>
        <p:txBody>
          <a:bodyPr>
            <a:noAutofit/>
          </a:bodyPr>
          <a:lstStyle/>
          <a:p>
            <a:pPr algn="ctr"/>
            <a:r>
              <a:rPr lang="en-US" sz="3500" b="1" dirty="0">
                <a:latin typeface="Times New Roman" panose="02020603050405020304" pitchFamily="18" charset="0"/>
                <a:cs typeface="Times New Roman" panose="02020603050405020304" pitchFamily="18" charset="0"/>
              </a:rPr>
              <a:t>DATA FLOW DIAGRAM : LEVEL 2</a:t>
            </a:r>
            <a:endParaRPr lang="en-US" sz="3500" dirty="0"/>
          </a:p>
        </p:txBody>
      </p:sp>
      <p:pic>
        <p:nvPicPr>
          <p:cNvPr id="4" name="Image 18">
            <a:extLst>
              <a:ext uri="{FF2B5EF4-FFF2-40B4-BE49-F238E27FC236}">
                <a16:creationId xmlns:a16="http://schemas.microsoft.com/office/drawing/2014/main" id="{309DD877-3E8C-43FB-97BE-4F48F2B9E76E}"/>
              </a:ext>
            </a:extLst>
          </p:cNvPr>
          <p:cNvPicPr>
            <a:picLocks/>
          </p:cNvPicPr>
          <p:nvPr/>
        </p:nvPicPr>
        <p:blipFill>
          <a:blip r:embed="rId2">
            <a:extLst>
              <a:ext uri="{28A0092B-C50C-407E-A947-70E740481C1C}">
                <a14:useLocalDpi xmlns:a14="http://schemas.microsoft.com/office/drawing/2010/main" val="0"/>
              </a:ext>
            </a:extLst>
          </a:blip>
          <a:srcRect/>
          <a:stretch/>
        </p:blipFill>
        <p:spPr>
          <a:xfrm>
            <a:off x="3323350" y="1247387"/>
            <a:ext cx="5545299" cy="5545299"/>
          </a:xfrm>
          <a:prstGeom prst="rect">
            <a:avLst/>
          </a:prstGeom>
          <a:ln>
            <a:solidFill>
              <a:schemeClr val="tx1"/>
            </a:solidFill>
          </a:ln>
        </p:spPr>
      </p:pic>
    </p:spTree>
    <p:extLst>
      <p:ext uri="{BB962C8B-B14F-4D97-AF65-F5344CB8AC3E}">
        <p14:creationId xmlns:p14="http://schemas.microsoft.com/office/powerpoint/2010/main" val="246466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6204D-7259-6139-2564-2884B21D833D}"/>
              </a:ext>
            </a:extLst>
          </p:cNvPr>
          <p:cNvSpPr>
            <a:spLocks noGrp="1"/>
          </p:cNvSpPr>
          <p:nvPr>
            <p:ph type="title"/>
          </p:nvPr>
        </p:nvSpPr>
        <p:spPr>
          <a:xfrm>
            <a:off x="838200" y="677101"/>
            <a:ext cx="10515600" cy="616702"/>
          </a:xfrm>
        </p:spPr>
        <p:txBody>
          <a:bodyPr>
            <a:normAutofit/>
          </a:bodyPr>
          <a:lstStyle/>
          <a:p>
            <a:pPr algn="ctr"/>
            <a:r>
              <a:rPr lang="en-US" sz="3500" b="1" dirty="0">
                <a:latin typeface="Times New Roman" panose="02020603050405020304" pitchFamily="18" charset="0"/>
                <a:cs typeface="Times New Roman" panose="02020603050405020304" pitchFamily="18" charset="0"/>
              </a:rPr>
              <a:t>MODULE  SPLIT-UP</a:t>
            </a:r>
            <a:endParaRPr lang="en-IN" sz="35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FA939B96-185F-DF49-D5FD-F1E6B18502C5}"/>
              </a:ext>
            </a:extLst>
          </p:cNvPr>
          <p:cNvSpPr>
            <a:spLocks noGrp="1"/>
          </p:cNvSpPr>
          <p:nvPr>
            <p:ph idx="1"/>
          </p:nvPr>
        </p:nvSpPr>
        <p:spPr>
          <a:xfrm>
            <a:off x="838200" y="1524835"/>
            <a:ext cx="10515600" cy="4351338"/>
          </a:xfrm>
        </p:spPr>
        <p:txBody>
          <a:bodyPr>
            <a:normAutofit/>
          </a:bodyPr>
          <a:lstStyle/>
          <a:p>
            <a:pPr marL="0" indent="0" algn="ctr">
              <a:lnSpc>
                <a:spcPct val="150000"/>
              </a:lnSpc>
              <a:buNone/>
            </a:pPr>
            <a:r>
              <a:rPr lang="en-IN" sz="2400" dirty="0">
                <a:solidFill>
                  <a:srgbClr val="FF0000"/>
                </a:solidFill>
                <a:latin typeface="Times New Roman" panose="02020603050405020304" pitchFamily="18" charset="0"/>
                <a:cs typeface="Times New Roman" pitchFamily="18" charset="0"/>
              </a:rPr>
              <a:t>Level 1 - Face Detection</a:t>
            </a:r>
          </a:p>
          <a:p>
            <a:pPr>
              <a:lnSpc>
                <a:spcPct val="150000"/>
              </a:lnSpc>
            </a:pPr>
            <a:r>
              <a:rPr lang="en-US" sz="2400" dirty="0">
                <a:latin typeface="Times New Roman" panose="02020603050405020304" pitchFamily="18" charset="0"/>
                <a:cs typeface="Times New Roman" panose="02020603050405020304" pitchFamily="18" charset="0"/>
              </a:rPr>
              <a:t>OpenCV captures live video and detects the face using Haar Cascade / </a:t>
            </a:r>
            <a:r>
              <a:rPr lang="en-US" sz="2400" dirty="0" err="1">
                <a:latin typeface="Times New Roman" panose="02020603050405020304" pitchFamily="18" charset="0"/>
                <a:cs typeface="Times New Roman" panose="02020603050405020304" pitchFamily="18" charset="0"/>
              </a:rPr>
              <a:t>MediaPipe</a:t>
            </a:r>
            <a:r>
              <a:rPr lang="en-US" sz="2400" dirty="0">
                <a:latin typeface="Times New Roman" panose="02020603050405020304" pitchFamily="18" charset="0"/>
                <a:cs typeface="Times New Roman" panose="02020603050405020304" pitchFamily="18" charset="0"/>
              </a:rPr>
              <a:t>, selecting the eye region for further processing.</a:t>
            </a:r>
          </a:p>
          <a:p>
            <a:pPr marL="0" indent="0" algn="ctr">
              <a:lnSpc>
                <a:spcPct val="150000"/>
              </a:lnSpc>
              <a:buNone/>
            </a:pPr>
            <a:r>
              <a:rPr lang="en-US" sz="2400" dirty="0">
                <a:solidFill>
                  <a:srgbClr val="FF0000"/>
                </a:solidFill>
                <a:latin typeface="Times New Roman" panose="02020603050405020304" pitchFamily="18" charset="0"/>
                <a:cs typeface="Times New Roman" panose="02020603050405020304" pitchFamily="18" charset="0"/>
              </a:rPr>
              <a:t>Level 2 - Eye Region Detection</a:t>
            </a:r>
          </a:p>
          <a:p>
            <a:pPr>
              <a:lnSpc>
                <a:spcPct val="150000"/>
              </a:lnSpc>
            </a:pPr>
            <a:r>
              <a:rPr lang="en-US" sz="2400" dirty="0">
                <a:latin typeface="Times New Roman" panose="02020603050405020304" pitchFamily="18" charset="0"/>
                <a:cs typeface="Times New Roman" panose="02020603050405020304" pitchFamily="18" charset="0"/>
              </a:rPr>
              <a:t>Left and right eye regions are accurately localized using OpenCV with HOG (Histogram of Oriented Gradients) features along with </a:t>
            </a:r>
            <a:r>
              <a:rPr lang="en-US" sz="2400" dirty="0" err="1">
                <a:latin typeface="Times New Roman" panose="02020603050405020304" pitchFamily="18" charset="0"/>
                <a:cs typeface="Times New Roman" panose="02020603050405020304" pitchFamily="18" charset="0"/>
              </a:rPr>
              <a:t>MediaPipe</a:t>
            </a:r>
            <a:r>
              <a:rPr lang="en-US" sz="2400" dirty="0">
                <a:latin typeface="Times New Roman" panose="02020603050405020304" pitchFamily="18" charset="0"/>
                <a:cs typeface="Times New Roman" panose="02020603050405020304" pitchFamily="18" charset="0"/>
              </a:rPr>
              <a:t> eye landmarks, ensuring precise and reliable eye tracking.</a:t>
            </a:r>
          </a:p>
        </p:txBody>
      </p:sp>
    </p:spTree>
    <p:extLst>
      <p:ext uri="{BB962C8B-B14F-4D97-AF65-F5344CB8AC3E}">
        <p14:creationId xmlns:p14="http://schemas.microsoft.com/office/powerpoint/2010/main" val="2239946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53C62-6D2B-966B-3426-DA219F756A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1CCEBB-58CA-41F3-D6E8-746EB7BBEEFF}"/>
              </a:ext>
            </a:extLst>
          </p:cNvPr>
          <p:cNvSpPr>
            <a:spLocks noGrp="1"/>
          </p:cNvSpPr>
          <p:nvPr>
            <p:ph type="title"/>
          </p:nvPr>
        </p:nvSpPr>
        <p:spPr>
          <a:xfrm>
            <a:off x="838200" y="677101"/>
            <a:ext cx="10515600" cy="616702"/>
          </a:xfrm>
        </p:spPr>
        <p:txBody>
          <a:bodyPr>
            <a:normAutofit/>
          </a:bodyPr>
          <a:lstStyle/>
          <a:p>
            <a:pPr algn="ctr"/>
            <a:r>
              <a:rPr lang="en-US" sz="3500" b="1" dirty="0">
                <a:latin typeface="Times New Roman" panose="02020603050405020304" pitchFamily="18" charset="0"/>
                <a:cs typeface="Times New Roman" panose="02020603050405020304" pitchFamily="18" charset="0"/>
              </a:rPr>
              <a:t>MODULE  SPLIT-UP</a:t>
            </a:r>
            <a:endParaRPr lang="en-IN" sz="35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68178682-B04E-2344-1180-AE73108755A3}"/>
              </a:ext>
            </a:extLst>
          </p:cNvPr>
          <p:cNvSpPr>
            <a:spLocks noGrp="1"/>
          </p:cNvSpPr>
          <p:nvPr>
            <p:ph idx="1"/>
          </p:nvPr>
        </p:nvSpPr>
        <p:spPr>
          <a:xfrm>
            <a:off x="838200" y="1524835"/>
            <a:ext cx="10515600" cy="4351338"/>
          </a:xfrm>
        </p:spPr>
        <p:txBody>
          <a:bodyPr>
            <a:normAutofit/>
          </a:bodyPr>
          <a:lstStyle/>
          <a:p>
            <a:pPr marL="0" indent="0" algn="ctr">
              <a:lnSpc>
                <a:spcPct val="150000"/>
              </a:lnSpc>
              <a:buNone/>
            </a:pPr>
            <a:r>
              <a:rPr lang="en-IN" sz="2400" dirty="0">
                <a:solidFill>
                  <a:srgbClr val="FF0000"/>
                </a:solidFill>
                <a:latin typeface="Times New Roman" panose="02020603050405020304" pitchFamily="18" charset="0"/>
                <a:cs typeface="Times New Roman" pitchFamily="18" charset="0"/>
              </a:rPr>
              <a:t>Level 3 - Iris Region Extraction</a:t>
            </a:r>
          </a:p>
          <a:p>
            <a:pPr>
              <a:lnSpc>
                <a:spcPct val="150000"/>
              </a:lnSpc>
            </a:pPr>
            <a:r>
              <a:rPr lang="en-US" sz="2400" dirty="0" err="1">
                <a:latin typeface="Times New Roman" panose="02020603050405020304" pitchFamily="18" charset="0"/>
                <a:cs typeface="Times New Roman" panose="02020603050405020304" pitchFamily="18" charset="0"/>
              </a:rPr>
              <a:t>MediaPipe</a:t>
            </a:r>
            <a:r>
              <a:rPr lang="en-US" sz="2400" dirty="0">
                <a:latin typeface="Times New Roman" panose="02020603050405020304" pitchFamily="18" charset="0"/>
                <a:cs typeface="Times New Roman" panose="02020603050405020304" pitchFamily="18" charset="0"/>
              </a:rPr>
              <a:t> Iris Tracking extracts both the iris center and pupil boundary points to accurately identify pupil movement and gaze direction.</a:t>
            </a:r>
          </a:p>
          <a:p>
            <a:pPr marL="0" indent="0" algn="ctr">
              <a:lnSpc>
                <a:spcPct val="150000"/>
              </a:lnSpc>
              <a:buNone/>
            </a:pPr>
            <a:r>
              <a:rPr lang="en-US" sz="2400" dirty="0">
                <a:solidFill>
                  <a:srgbClr val="FF0000"/>
                </a:solidFill>
                <a:latin typeface="Times New Roman" panose="02020603050405020304" pitchFamily="18" charset="0"/>
                <a:cs typeface="Times New Roman" panose="02020603050405020304" pitchFamily="18" charset="0"/>
              </a:rPr>
              <a:t>Level 4 - Preprocessing</a:t>
            </a:r>
          </a:p>
          <a:p>
            <a:pPr>
              <a:lnSpc>
                <a:spcPct val="150000"/>
              </a:lnSpc>
            </a:pPr>
            <a:r>
              <a:rPr lang="en-US" sz="2400" dirty="0">
                <a:latin typeface="Times New Roman" panose="02020603050405020304" pitchFamily="18" charset="0"/>
                <a:cs typeface="Times New Roman" panose="02020603050405020304" pitchFamily="18" charset="0"/>
              </a:rPr>
              <a:t>Frames are converted to grayscale, filtered for noise, normalized for lighting, and resized to improve accuracy and stability.</a:t>
            </a:r>
          </a:p>
        </p:txBody>
      </p:sp>
    </p:spTree>
    <p:extLst>
      <p:ext uri="{BB962C8B-B14F-4D97-AF65-F5344CB8AC3E}">
        <p14:creationId xmlns:p14="http://schemas.microsoft.com/office/powerpoint/2010/main" val="20278659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F89DC-CF39-CF84-93A6-E62080EB54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8D5953-7AC5-BBA6-76CB-3FC4CEAEEFDC}"/>
              </a:ext>
            </a:extLst>
          </p:cNvPr>
          <p:cNvSpPr>
            <a:spLocks noGrp="1"/>
          </p:cNvSpPr>
          <p:nvPr>
            <p:ph type="title"/>
          </p:nvPr>
        </p:nvSpPr>
        <p:spPr>
          <a:xfrm>
            <a:off x="838200" y="677101"/>
            <a:ext cx="10515600" cy="616702"/>
          </a:xfrm>
        </p:spPr>
        <p:txBody>
          <a:bodyPr>
            <a:normAutofit/>
          </a:bodyPr>
          <a:lstStyle/>
          <a:p>
            <a:pPr algn="ctr"/>
            <a:r>
              <a:rPr lang="en-US" sz="3500" b="1" dirty="0">
                <a:latin typeface="Times New Roman" panose="02020603050405020304" pitchFamily="18" charset="0"/>
                <a:cs typeface="Times New Roman" panose="02020603050405020304" pitchFamily="18" charset="0"/>
              </a:rPr>
              <a:t>MODULE  SPLIT-UP</a:t>
            </a:r>
            <a:endParaRPr lang="en-IN" sz="35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A8958A9F-B815-5E14-7642-F03BAF0FD8C6}"/>
              </a:ext>
            </a:extLst>
          </p:cNvPr>
          <p:cNvSpPr>
            <a:spLocks noGrp="1"/>
          </p:cNvSpPr>
          <p:nvPr>
            <p:ph idx="1"/>
          </p:nvPr>
        </p:nvSpPr>
        <p:spPr>
          <a:xfrm>
            <a:off x="838200" y="1524835"/>
            <a:ext cx="10515600" cy="4351338"/>
          </a:xfrm>
        </p:spPr>
        <p:txBody>
          <a:bodyPr>
            <a:normAutofit/>
          </a:bodyPr>
          <a:lstStyle/>
          <a:p>
            <a:pPr marL="0" indent="0" algn="ctr">
              <a:lnSpc>
                <a:spcPct val="150000"/>
              </a:lnSpc>
              <a:buNone/>
            </a:pPr>
            <a:r>
              <a:rPr lang="en-IN" sz="2400" dirty="0">
                <a:solidFill>
                  <a:srgbClr val="FF0000"/>
                </a:solidFill>
                <a:latin typeface="Times New Roman" panose="02020603050405020304" pitchFamily="18" charset="0"/>
                <a:cs typeface="Times New Roman" pitchFamily="18" charset="0"/>
              </a:rPr>
              <a:t>Level 5 - Feature Extraction</a:t>
            </a:r>
          </a:p>
          <a:p>
            <a:pPr>
              <a:lnSpc>
                <a:spcPct val="150000"/>
              </a:lnSpc>
            </a:pPr>
            <a:r>
              <a:rPr lang="en-US" sz="2400" dirty="0">
                <a:latin typeface="Times New Roman" panose="02020603050405020304" pitchFamily="18" charset="0"/>
                <a:cs typeface="Times New Roman" panose="02020603050405020304" pitchFamily="18" charset="0"/>
              </a:rPr>
              <a:t>Important features such as iris position, eyelid opening and blink points are extracted using </a:t>
            </a:r>
            <a:r>
              <a:rPr lang="en-US" sz="2400" dirty="0" err="1">
                <a:latin typeface="Times New Roman" panose="02020603050405020304" pitchFamily="18" charset="0"/>
                <a:cs typeface="Times New Roman" panose="02020603050405020304" pitchFamily="18" charset="0"/>
              </a:rPr>
              <a:t>MediaPipe</a:t>
            </a:r>
            <a:r>
              <a:rPr lang="en-US" sz="2400" dirty="0">
                <a:latin typeface="Times New Roman" panose="02020603050405020304" pitchFamily="18" charset="0"/>
                <a:cs typeface="Times New Roman" panose="02020603050405020304" pitchFamily="18" charset="0"/>
              </a:rPr>
              <a:t> landmarks and feature techniques.</a:t>
            </a:r>
          </a:p>
          <a:p>
            <a:pPr marL="0" indent="0" algn="ctr">
              <a:lnSpc>
                <a:spcPct val="150000"/>
              </a:lnSpc>
              <a:buNone/>
            </a:pPr>
            <a:r>
              <a:rPr lang="en-US" sz="2400" dirty="0">
                <a:solidFill>
                  <a:srgbClr val="FF0000"/>
                </a:solidFill>
                <a:latin typeface="Times New Roman" panose="02020603050405020304" pitchFamily="18" charset="0"/>
                <a:cs typeface="Times New Roman" panose="02020603050405020304" pitchFamily="18" charset="0"/>
              </a:rPr>
              <a:t>Level 6 - ML / DL Classification</a:t>
            </a:r>
          </a:p>
          <a:p>
            <a:pPr>
              <a:lnSpc>
                <a:spcPct val="150000"/>
              </a:lnSpc>
            </a:pPr>
            <a:r>
              <a:rPr lang="en-US" sz="2400" dirty="0">
                <a:latin typeface="Times New Roman" panose="02020603050405020304" pitchFamily="18" charset="0"/>
                <a:cs typeface="Times New Roman" panose="02020603050405020304" pitchFamily="18" charset="0"/>
              </a:rPr>
              <a:t>CNN processes extracted features to classify and predict gaze direction (Left, Right, Forward) and detect blinks in real time, ensuring accurate and safe control.</a:t>
            </a:r>
          </a:p>
        </p:txBody>
      </p:sp>
    </p:spTree>
    <p:extLst>
      <p:ext uri="{BB962C8B-B14F-4D97-AF65-F5344CB8AC3E}">
        <p14:creationId xmlns:p14="http://schemas.microsoft.com/office/powerpoint/2010/main" val="824478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C8577-D104-1F76-89E2-D34D44DFC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5CE16-490B-285C-8CE8-BD813A8A4EE4}"/>
              </a:ext>
            </a:extLst>
          </p:cNvPr>
          <p:cNvSpPr>
            <a:spLocks noGrp="1"/>
          </p:cNvSpPr>
          <p:nvPr>
            <p:ph type="title"/>
          </p:nvPr>
        </p:nvSpPr>
        <p:spPr>
          <a:xfrm>
            <a:off x="838200" y="677101"/>
            <a:ext cx="10515600" cy="616702"/>
          </a:xfrm>
        </p:spPr>
        <p:txBody>
          <a:bodyPr>
            <a:normAutofit/>
          </a:bodyPr>
          <a:lstStyle/>
          <a:p>
            <a:pPr algn="ctr"/>
            <a:r>
              <a:rPr lang="en-US" sz="3500" b="1" dirty="0">
                <a:latin typeface="Times New Roman" panose="02020603050405020304" pitchFamily="18" charset="0"/>
                <a:cs typeface="Times New Roman" panose="02020603050405020304" pitchFamily="18" charset="0"/>
              </a:rPr>
              <a:t>MODULE  SPLIT-UP</a:t>
            </a:r>
            <a:endParaRPr lang="en-IN" sz="35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E50C4AE8-1540-B37C-1F5A-010FB728F776}"/>
              </a:ext>
            </a:extLst>
          </p:cNvPr>
          <p:cNvSpPr>
            <a:spLocks noGrp="1"/>
          </p:cNvSpPr>
          <p:nvPr>
            <p:ph idx="1"/>
          </p:nvPr>
        </p:nvSpPr>
        <p:spPr>
          <a:xfrm>
            <a:off x="838200" y="1524835"/>
            <a:ext cx="10515600" cy="4351338"/>
          </a:xfrm>
        </p:spPr>
        <p:txBody>
          <a:bodyPr>
            <a:normAutofit/>
          </a:bodyPr>
          <a:lstStyle/>
          <a:p>
            <a:pPr marL="0" indent="0" algn="ctr">
              <a:lnSpc>
                <a:spcPct val="150000"/>
              </a:lnSpc>
              <a:buNone/>
            </a:pPr>
            <a:r>
              <a:rPr lang="en-US" sz="2400" dirty="0">
                <a:solidFill>
                  <a:srgbClr val="FF0000"/>
                </a:solidFill>
                <a:latin typeface="Times New Roman" panose="02020603050405020304" pitchFamily="18" charset="0"/>
                <a:cs typeface="Times New Roman" panose="02020603050405020304" pitchFamily="18" charset="0"/>
              </a:rPr>
              <a:t>Level 7 - Decision Mapping &amp; Command Generation</a:t>
            </a:r>
          </a:p>
          <a:p>
            <a:pPr>
              <a:lnSpc>
                <a:spcPct val="150000"/>
              </a:lnSpc>
            </a:pPr>
            <a:r>
              <a:rPr lang="en-US" sz="2400" dirty="0">
                <a:latin typeface="Times New Roman" panose="02020603050405020304" pitchFamily="18" charset="0"/>
                <a:cs typeface="Times New Roman" panose="02020603050405020304" pitchFamily="18" charset="0"/>
              </a:rPr>
              <a:t>Classified gaze and blink outputs are converted into wheelchair navigation and PDF control commands.</a:t>
            </a:r>
          </a:p>
        </p:txBody>
      </p:sp>
    </p:spTree>
    <p:extLst>
      <p:ext uri="{BB962C8B-B14F-4D97-AF65-F5344CB8AC3E}">
        <p14:creationId xmlns:p14="http://schemas.microsoft.com/office/powerpoint/2010/main" val="5091039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95378-6F0C-8DAE-709D-B6EA93B726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2CC9DB-F574-F10B-3C73-F624556C78FD}"/>
              </a:ext>
            </a:extLst>
          </p:cNvPr>
          <p:cNvSpPr>
            <a:spLocks noGrp="1"/>
          </p:cNvSpPr>
          <p:nvPr>
            <p:ph type="title"/>
          </p:nvPr>
        </p:nvSpPr>
        <p:spPr>
          <a:xfrm>
            <a:off x="838200" y="708599"/>
            <a:ext cx="10515600" cy="560033"/>
          </a:xfrm>
        </p:spPr>
        <p:txBody>
          <a:bodyPr>
            <a:noAutofit/>
          </a:bodyPr>
          <a:lstStyle/>
          <a:p>
            <a:pPr algn="ctr"/>
            <a:r>
              <a:rPr lang="en-US" sz="3500" b="1" dirty="0">
                <a:latin typeface="Times New Roman" panose="02020603050405020304" pitchFamily="18" charset="0"/>
                <a:cs typeface="Times New Roman" panose="02020603050405020304" pitchFamily="18" charset="0"/>
              </a:rPr>
              <a:t>ALGORITHM USED</a:t>
            </a:r>
            <a:endParaRPr lang="en-US" sz="3500" dirty="0"/>
          </a:p>
        </p:txBody>
      </p:sp>
      <p:sp>
        <p:nvSpPr>
          <p:cNvPr id="3" name="TextBox 2">
            <a:extLst>
              <a:ext uri="{FF2B5EF4-FFF2-40B4-BE49-F238E27FC236}">
                <a16:creationId xmlns:a16="http://schemas.microsoft.com/office/drawing/2014/main" id="{3ABCD098-C37E-E6F6-0F7A-9395F2845458}"/>
              </a:ext>
            </a:extLst>
          </p:cNvPr>
          <p:cNvSpPr txBox="1"/>
          <p:nvPr/>
        </p:nvSpPr>
        <p:spPr>
          <a:xfrm>
            <a:off x="1211991" y="1287294"/>
            <a:ext cx="9480889" cy="557697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Haar Cascade Algorithm</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Used for real-time face detection from webcam input.</a:t>
            </a:r>
          </a:p>
          <a:p>
            <a:pPr marL="342900" indent="-342900">
              <a:lnSpc>
                <a:spcPct val="150000"/>
              </a:lnSpc>
              <a:buFont typeface="Arial" panose="020B0604020202020204" pitchFamily="34" charset="0"/>
              <a:buChar char="•"/>
            </a:pPr>
            <a:r>
              <a:rPr lang="en-IN" sz="2000" b="1" dirty="0" err="1">
                <a:latin typeface="Times New Roman" panose="02020603050405020304" pitchFamily="18" charset="0"/>
                <a:cs typeface="Times New Roman" panose="02020603050405020304" pitchFamily="18" charset="0"/>
              </a:rPr>
              <a:t>MediaPipe</a:t>
            </a:r>
            <a:r>
              <a:rPr lang="en-IN" sz="2000" b="1" dirty="0">
                <a:latin typeface="Times New Roman" panose="02020603050405020304" pitchFamily="18" charset="0"/>
                <a:cs typeface="Times New Roman" panose="02020603050405020304" pitchFamily="18" charset="0"/>
              </a:rPr>
              <a:t> Face Mesh Algorithm</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Used to detect facial landmarks and locate eye regions accurately.</a:t>
            </a:r>
          </a:p>
          <a:p>
            <a:pPr marL="342900" indent="-342900">
              <a:lnSpc>
                <a:spcPct val="150000"/>
              </a:lnSpc>
              <a:buFont typeface="Arial" panose="020B0604020202020204" pitchFamily="34" charset="0"/>
              <a:buChar char="•"/>
            </a:pPr>
            <a:r>
              <a:rPr lang="en-IN" sz="2000" b="1" dirty="0" err="1">
                <a:latin typeface="Times New Roman" panose="02020603050405020304" pitchFamily="18" charset="0"/>
                <a:cs typeface="Times New Roman" panose="02020603050405020304" pitchFamily="18" charset="0"/>
              </a:rPr>
              <a:t>MediaPipe</a:t>
            </a:r>
            <a:r>
              <a:rPr lang="en-IN" sz="2000" b="1" dirty="0">
                <a:latin typeface="Times New Roman" panose="02020603050405020304" pitchFamily="18" charset="0"/>
                <a:cs typeface="Times New Roman" panose="02020603050405020304" pitchFamily="18" charset="0"/>
              </a:rPr>
              <a:t> Iris Tracking Algorithm</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Used to track iris position and determine eye gaze direction.</a:t>
            </a:r>
          </a:p>
          <a:p>
            <a:pPr marL="34290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Blink Detection Algorithm</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Used to detect eye blinks for command selection and emergency stop.</a:t>
            </a:r>
          </a:p>
          <a:p>
            <a:pPr marL="34290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CNN Classification Algorithm</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Used to classify gaze direction and blink patterns.</a:t>
            </a:r>
          </a:p>
          <a:p>
            <a:pPr marL="34290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Eye-Gaze Based PDF Scrolling Algorithm</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Used to scroll and navigate PDF documents using eye movements.</a:t>
            </a:r>
          </a:p>
        </p:txBody>
      </p:sp>
    </p:spTree>
    <p:extLst>
      <p:ext uri="{BB962C8B-B14F-4D97-AF65-F5344CB8AC3E}">
        <p14:creationId xmlns:p14="http://schemas.microsoft.com/office/powerpoint/2010/main" val="1102304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B7C5B-67D4-7204-9DB0-346A12EE69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B03483-8F77-D452-0343-FD66C3CF21E7}"/>
              </a:ext>
            </a:extLst>
          </p:cNvPr>
          <p:cNvSpPr>
            <a:spLocks noGrp="1"/>
          </p:cNvSpPr>
          <p:nvPr>
            <p:ph type="title"/>
          </p:nvPr>
        </p:nvSpPr>
        <p:spPr>
          <a:xfrm>
            <a:off x="838200" y="677101"/>
            <a:ext cx="10515600" cy="616702"/>
          </a:xfrm>
        </p:spPr>
        <p:txBody>
          <a:bodyPr>
            <a:normAutofit/>
          </a:bodyPr>
          <a:lstStyle/>
          <a:p>
            <a:pPr algn="ctr"/>
            <a:r>
              <a:rPr lang="en-US" sz="3500" b="1" dirty="0">
                <a:latin typeface="Times New Roman" panose="02020603050405020304" pitchFamily="18" charset="0"/>
                <a:cs typeface="Times New Roman" panose="02020603050405020304" pitchFamily="18" charset="0"/>
              </a:rPr>
              <a:t>EXPERIMENTAL RESULT</a:t>
            </a:r>
            <a:endParaRPr lang="en-IN" sz="3500" b="1" dirty="0">
              <a:latin typeface="Times New Roman" pitchFamily="18" charset="0"/>
              <a:cs typeface="Times New Roman" pitchFamily="18" charset="0"/>
            </a:endParaRPr>
          </a:p>
        </p:txBody>
      </p:sp>
      <p:pic>
        <p:nvPicPr>
          <p:cNvPr id="3" name="Image 20">
            <a:extLst>
              <a:ext uri="{FF2B5EF4-FFF2-40B4-BE49-F238E27FC236}">
                <a16:creationId xmlns:a16="http://schemas.microsoft.com/office/drawing/2014/main" id="{2B29AF80-55E1-2B69-1A85-C36D557BE98D}"/>
              </a:ext>
            </a:extLst>
          </p:cNvPr>
          <p:cNvPicPr>
            <a:picLocks/>
          </p:cNvPicPr>
          <p:nvPr/>
        </p:nvPicPr>
        <p:blipFill>
          <a:blip r:embed="rId2" cstate="print">
            <a:extLst>
              <a:ext uri="{28A0092B-C50C-407E-A947-70E740481C1C}">
                <a14:useLocalDpi xmlns:a14="http://schemas.microsoft.com/office/drawing/2010/main" val="0"/>
              </a:ext>
            </a:extLst>
          </a:blip>
          <a:srcRect/>
          <a:stretch/>
        </p:blipFill>
        <p:spPr>
          <a:xfrm>
            <a:off x="2598853" y="1293803"/>
            <a:ext cx="6994292" cy="3708431"/>
          </a:xfrm>
          <a:prstGeom prst="rect">
            <a:avLst/>
          </a:prstGeom>
        </p:spPr>
      </p:pic>
      <p:sp>
        <p:nvSpPr>
          <p:cNvPr id="5" name="TextBox 4">
            <a:extLst>
              <a:ext uri="{FF2B5EF4-FFF2-40B4-BE49-F238E27FC236}">
                <a16:creationId xmlns:a16="http://schemas.microsoft.com/office/drawing/2014/main" id="{560341F6-5090-8562-353E-46D483819BAF}"/>
              </a:ext>
            </a:extLst>
          </p:cNvPr>
          <p:cNvSpPr txBox="1"/>
          <p:nvPr/>
        </p:nvSpPr>
        <p:spPr>
          <a:xfrm>
            <a:off x="1394148" y="5594177"/>
            <a:ext cx="9403702" cy="707886"/>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The system detects forward gaze as “FORWARD LOOK” and moves the wheelchair straight, ensuring accurate real-time control.</a:t>
            </a:r>
            <a:endParaRPr lang="en-IN" sz="20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89A924C2-5815-DA5C-A62E-51226C085D1C}"/>
              </a:ext>
            </a:extLst>
          </p:cNvPr>
          <p:cNvSpPr txBox="1"/>
          <p:nvPr/>
        </p:nvSpPr>
        <p:spPr>
          <a:xfrm>
            <a:off x="3825551" y="5169158"/>
            <a:ext cx="4338735"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Forward Gaze Wheelchair Movement</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32954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6FFD3-2C2E-2828-BB75-990A7FE730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B2E735-0434-EE4F-714D-ED2A8DA45809}"/>
              </a:ext>
            </a:extLst>
          </p:cNvPr>
          <p:cNvSpPr>
            <a:spLocks noGrp="1"/>
          </p:cNvSpPr>
          <p:nvPr>
            <p:ph type="title"/>
          </p:nvPr>
        </p:nvSpPr>
        <p:spPr>
          <a:xfrm>
            <a:off x="838200" y="677101"/>
            <a:ext cx="10515600" cy="616702"/>
          </a:xfrm>
        </p:spPr>
        <p:txBody>
          <a:bodyPr>
            <a:normAutofit/>
          </a:bodyPr>
          <a:lstStyle/>
          <a:p>
            <a:pPr algn="ctr"/>
            <a:r>
              <a:rPr lang="en-US" sz="3500" b="1" dirty="0">
                <a:latin typeface="Times New Roman" panose="02020603050405020304" pitchFamily="18" charset="0"/>
                <a:cs typeface="Times New Roman" panose="02020603050405020304" pitchFamily="18" charset="0"/>
              </a:rPr>
              <a:t>EXPERIMENTAL RESULT</a:t>
            </a:r>
            <a:endParaRPr lang="en-IN" sz="3500" b="1" dirty="0">
              <a:latin typeface="Times New Roman" pitchFamily="18" charset="0"/>
              <a:cs typeface="Times New Roman" pitchFamily="18" charset="0"/>
            </a:endParaRPr>
          </a:p>
        </p:txBody>
      </p:sp>
      <p:pic>
        <p:nvPicPr>
          <p:cNvPr id="3" name="Image 20">
            <a:extLst>
              <a:ext uri="{FF2B5EF4-FFF2-40B4-BE49-F238E27FC236}">
                <a16:creationId xmlns:a16="http://schemas.microsoft.com/office/drawing/2014/main" id="{0787F38D-68B2-F458-320E-BE2283F007DE}"/>
              </a:ext>
            </a:extLst>
          </p:cNvPr>
          <p:cNvPicPr>
            <a:picLocks/>
          </p:cNvPicPr>
          <p:nvPr/>
        </p:nvPicPr>
        <p:blipFill>
          <a:blip r:embed="rId2" cstate="print">
            <a:extLst>
              <a:ext uri="{28A0092B-C50C-407E-A947-70E740481C1C}">
                <a14:useLocalDpi xmlns:a14="http://schemas.microsoft.com/office/drawing/2010/main" val="0"/>
              </a:ext>
            </a:extLst>
          </a:blip>
          <a:srcRect/>
          <a:stretch/>
        </p:blipFill>
        <p:spPr>
          <a:xfrm>
            <a:off x="2598853" y="1293803"/>
            <a:ext cx="6994291" cy="3690217"/>
          </a:xfrm>
          <a:prstGeom prst="rect">
            <a:avLst/>
          </a:prstGeom>
        </p:spPr>
      </p:pic>
      <p:sp>
        <p:nvSpPr>
          <p:cNvPr id="5" name="TextBox 4">
            <a:extLst>
              <a:ext uri="{FF2B5EF4-FFF2-40B4-BE49-F238E27FC236}">
                <a16:creationId xmlns:a16="http://schemas.microsoft.com/office/drawing/2014/main" id="{C7B9816F-0720-0777-E8C7-E6AA5372F194}"/>
              </a:ext>
            </a:extLst>
          </p:cNvPr>
          <p:cNvSpPr txBox="1"/>
          <p:nvPr/>
        </p:nvSpPr>
        <p:spPr>
          <a:xfrm>
            <a:off x="1394148" y="5594177"/>
            <a:ext cx="9403702" cy="707886"/>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The system detects left gaze as “LEFT LOOK” and turns the wheelchair left, confirming precise real-time movement control.</a:t>
            </a:r>
            <a:endParaRPr lang="en-IN" sz="20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3A205C5A-427D-CE25-6A10-73BDB34178DD}"/>
              </a:ext>
            </a:extLst>
          </p:cNvPr>
          <p:cNvSpPr txBox="1"/>
          <p:nvPr/>
        </p:nvSpPr>
        <p:spPr>
          <a:xfrm>
            <a:off x="3825551" y="5169158"/>
            <a:ext cx="4338735"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Left Gaze Wheelchair Control</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96589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BDF72-662C-6217-3199-E68D939813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1F41E2-B323-EB8C-A1CB-267CDF9E71D5}"/>
              </a:ext>
            </a:extLst>
          </p:cNvPr>
          <p:cNvSpPr>
            <a:spLocks noGrp="1"/>
          </p:cNvSpPr>
          <p:nvPr>
            <p:ph type="title"/>
          </p:nvPr>
        </p:nvSpPr>
        <p:spPr>
          <a:xfrm>
            <a:off x="838200" y="677101"/>
            <a:ext cx="10515600" cy="616702"/>
          </a:xfrm>
        </p:spPr>
        <p:txBody>
          <a:bodyPr>
            <a:normAutofit/>
          </a:bodyPr>
          <a:lstStyle/>
          <a:p>
            <a:pPr algn="ctr"/>
            <a:r>
              <a:rPr lang="en-US" sz="3500" b="1" dirty="0">
                <a:latin typeface="Times New Roman" panose="02020603050405020304" pitchFamily="18" charset="0"/>
                <a:cs typeface="Times New Roman" panose="02020603050405020304" pitchFamily="18" charset="0"/>
              </a:rPr>
              <a:t>EXPERIMENTAL RESULT</a:t>
            </a:r>
            <a:endParaRPr lang="en-IN" sz="3500" b="1" dirty="0">
              <a:latin typeface="Times New Roman" pitchFamily="18" charset="0"/>
              <a:cs typeface="Times New Roman" pitchFamily="18" charset="0"/>
            </a:endParaRPr>
          </a:p>
        </p:txBody>
      </p:sp>
      <p:pic>
        <p:nvPicPr>
          <p:cNvPr id="3" name="Image 20">
            <a:extLst>
              <a:ext uri="{FF2B5EF4-FFF2-40B4-BE49-F238E27FC236}">
                <a16:creationId xmlns:a16="http://schemas.microsoft.com/office/drawing/2014/main" id="{1CB31119-6A74-B897-D2FD-6D712ADD9671}"/>
              </a:ext>
            </a:extLst>
          </p:cNvPr>
          <p:cNvPicPr>
            <a:picLocks/>
          </p:cNvPicPr>
          <p:nvPr/>
        </p:nvPicPr>
        <p:blipFill>
          <a:blip r:embed="rId2" cstate="print">
            <a:extLst>
              <a:ext uri="{28A0092B-C50C-407E-A947-70E740481C1C}">
                <a14:useLocalDpi xmlns:a14="http://schemas.microsoft.com/office/drawing/2010/main" val="0"/>
              </a:ext>
            </a:extLst>
          </a:blip>
          <a:srcRect/>
          <a:stretch/>
        </p:blipFill>
        <p:spPr>
          <a:xfrm>
            <a:off x="2598853" y="1293803"/>
            <a:ext cx="6994292" cy="3708431"/>
          </a:xfrm>
          <a:prstGeom prst="rect">
            <a:avLst/>
          </a:prstGeom>
        </p:spPr>
      </p:pic>
      <p:sp>
        <p:nvSpPr>
          <p:cNvPr id="5" name="TextBox 4">
            <a:extLst>
              <a:ext uri="{FF2B5EF4-FFF2-40B4-BE49-F238E27FC236}">
                <a16:creationId xmlns:a16="http://schemas.microsoft.com/office/drawing/2014/main" id="{E56AF049-0EB2-9761-244D-FA777EEE0905}"/>
              </a:ext>
            </a:extLst>
          </p:cNvPr>
          <p:cNvSpPr txBox="1"/>
          <p:nvPr/>
        </p:nvSpPr>
        <p:spPr>
          <a:xfrm>
            <a:off x="1394148" y="5594177"/>
            <a:ext cx="9403702" cy="707886"/>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The system detects right gaze as “RIGHT LOOK” and turns the wheelchair right, enabling effective real-time control.</a:t>
            </a:r>
            <a:endParaRPr lang="en-IN" sz="20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888802A-6481-D7FA-D673-63D914E6E72D}"/>
              </a:ext>
            </a:extLst>
          </p:cNvPr>
          <p:cNvSpPr txBox="1"/>
          <p:nvPr/>
        </p:nvSpPr>
        <p:spPr>
          <a:xfrm>
            <a:off x="3825551" y="5178489"/>
            <a:ext cx="4338735"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Right Gaze Wheelchair Control</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35652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83C48-3F0A-327A-C66D-36B4606FE7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DF9918-911B-4FC0-71C9-9B219EA16167}"/>
              </a:ext>
            </a:extLst>
          </p:cNvPr>
          <p:cNvSpPr>
            <a:spLocks noGrp="1"/>
          </p:cNvSpPr>
          <p:nvPr>
            <p:ph type="title"/>
          </p:nvPr>
        </p:nvSpPr>
        <p:spPr>
          <a:xfrm>
            <a:off x="838200" y="677101"/>
            <a:ext cx="10515600" cy="616702"/>
          </a:xfrm>
        </p:spPr>
        <p:txBody>
          <a:bodyPr>
            <a:normAutofit/>
          </a:bodyPr>
          <a:lstStyle/>
          <a:p>
            <a:pPr algn="ctr"/>
            <a:r>
              <a:rPr lang="en-US" sz="3500" b="1" dirty="0">
                <a:latin typeface="Times New Roman" panose="02020603050405020304" pitchFamily="18" charset="0"/>
                <a:cs typeface="Times New Roman" panose="02020603050405020304" pitchFamily="18" charset="0"/>
              </a:rPr>
              <a:t>EXPERIMENTAL RESULT</a:t>
            </a:r>
            <a:endParaRPr lang="en-IN" sz="3500" b="1" dirty="0">
              <a:latin typeface="Times New Roman" pitchFamily="18" charset="0"/>
              <a:cs typeface="Times New Roman" pitchFamily="18" charset="0"/>
            </a:endParaRPr>
          </a:p>
        </p:txBody>
      </p:sp>
      <p:pic>
        <p:nvPicPr>
          <p:cNvPr id="3" name="Image 20">
            <a:extLst>
              <a:ext uri="{FF2B5EF4-FFF2-40B4-BE49-F238E27FC236}">
                <a16:creationId xmlns:a16="http://schemas.microsoft.com/office/drawing/2014/main" id="{A20DEF05-98A8-7D26-0DF8-F842BE465DC7}"/>
              </a:ext>
            </a:extLst>
          </p:cNvPr>
          <p:cNvPicPr>
            <a:picLocks/>
          </p:cNvPicPr>
          <p:nvPr/>
        </p:nvPicPr>
        <p:blipFill>
          <a:blip r:embed="rId2" cstate="print">
            <a:extLst>
              <a:ext uri="{28A0092B-C50C-407E-A947-70E740481C1C}">
                <a14:useLocalDpi xmlns:a14="http://schemas.microsoft.com/office/drawing/2010/main" val="0"/>
              </a:ext>
            </a:extLst>
          </a:blip>
          <a:srcRect/>
          <a:stretch/>
        </p:blipFill>
        <p:spPr>
          <a:xfrm>
            <a:off x="2605758" y="1293803"/>
            <a:ext cx="6980481" cy="3682931"/>
          </a:xfrm>
          <a:prstGeom prst="rect">
            <a:avLst/>
          </a:prstGeom>
        </p:spPr>
      </p:pic>
      <p:sp>
        <p:nvSpPr>
          <p:cNvPr id="5" name="TextBox 4">
            <a:extLst>
              <a:ext uri="{FF2B5EF4-FFF2-40B4-BE49-F238E27FC236}">
                <a16:creationId xmlns:a16="http://schemas.microsoft.com/office/drawing/2014/main" id="{7562E189-889A-35F3-4584-A0551079A00C}"/>
              </a:ext>
            </a:extLst>
          </p:cNvPr>
          <p:cNvSpPr txBox="1"/>
          <p:nvPr/>
        </p:nvSpPr>
        <p:spPr>
          <a:xfrm>
            <a:off x="1394148" y="5594177"/>
            <a:ext cx="9403702" cy="707886"/>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When no eyes are detected (</a:t>
            </a:r>
            <a:r>
              <a:rPr lang="en-US" sz="2000" b="1" dirty="0">
                <a:latin typeface="Times New Roman" panose="02020603050405020304" pitchFamily="18" charset="0"/>
                <a:cs typeface="Times New Roman" panose="02020603050405020304" pitchFamily="18" charset="0"/>
              </a:rPr>
              <a:t>“NO EYE”</a:t>
            </a:r>
            <a:r>
              <a:rPr lang="en-US" sz="2000" dirty="0">
                <a:latin typeface="Times New Roman" panose="02020603050405020304" pitchFamily="18" charset="0"/>
                <a:cs typeface="Times New Roman" panose="02020603050405020304" pitchFamily="18" charset="0"/>
              </a:rPr>
              <a:t>), the system automatically stops the wheelchair to ensure safety and prevent unintended movement.</a:t>
            </a:r>
            <a:endParaRPr lang="en-IN" sz="20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DDBE952F-5836-5708-697F-552D9322E7B9}"/>
              </a:ext>
            </a:extLst>
          </p:cNvPr>
          <p:cNvSpPr txBox="1"/>
          <p:nvPr/>
        </p:nvSpPr>
        <p:spPr>
          <a:xfrm>
            <a:off x="3825551" y="5113175"/>
            <a:ext cx="4805265"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No-Eye Direction Wheelchair Movement</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36528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B77AC-30D3-769A-F004-0AB62FD1EA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6561C3-BA25-2312-D19F-A8DE8B29D2D9}"/>
              </a:ext>
            </a:extLst>
          </p:cNvPr>
          <p:cNvSpPr>
            <a:spLocks noGrp="1"/>
          </p:cNvSpPr>
          <p:nvPr>
            <p:ph type="title"/>
          </p:nvPr>
        </p:nvSpPr>
        <p:spPr>
          <a:xfrm>
            <a:off x="838200" y="677101"/>
            <a:ext cx="10515600" cy="616702"/>
          </a:xfrm>
        </p:spPr>
        <p:txBody>
          <a:bodyPr>
            <a:normAutofit/>
          </a:bodyPr>
          <a:lstStyle/>
          <a:p>
            <a:pPr algn="ctr"/>
            <a:r>
              <a:rPr lang="en-US" sz="3500" b="1" dirty="0">
                <a:latin typeface="Times New Roman" panose="02020603050405020304" pitchFamily="18" charset="0"/>
                <a:cs typeface="Times New Roman" panose="02020603050405020304" pitchFamily="18" charset="0"/>
              </a:rPr>
              <a:t>EXPERIMENTAL RESULT</a:t>
            </a:r>
            <a:endParaRPr lang="en-IN" sz="3500" b="1" dirty="0">
              <a:latin typeface="Times New Roman" pitchFamily="18" charset="0"/>
              <a:cs typeface="Times New Roman" pitchFamily="18" charset="0"/>
            </a:endParaRPr>
          </a:p>
        </p:txBody>
      </p:sp>
      <p:pic>
        <p:nvPicPr>
          <p:cNvPr id="3" name="Image 20">
            <a:extLst>
              <a:ext uri="{FF2B5EF4-FFF2-40B4-BE49-F238E27FC236}">
                <a16:creationId xmlns:a16="http://schemas.microsoft.com/office/drawing/2014/main" id="{9DF27BEC-6430-050D-74AE-14A53B49A43E}"/>
              </a:ext>
            </a:extLst>
          </p:cNvPr>
          <p:cNvPicPr>
            <a:picLocks/>
          </p:cNvPicPr>
          <p:nvPr/>
        </p:nvPicPr>
        <p:blipFill>
          <a:blip r:embed="rId2" cstate="print">
            <a:extLst>
              <a:ext uri="{28A0092B-C50C-407E-A947-70E740481C1C}">
                <a14:useLocalDpi xmlns:a14="http://schemas.microsoft.com/office/drawing/2010/main" val="0"/>
              </a:ext>
            </a:extLst>
          </a:blip>
          <a:srcRect/>
          <a:stretch/>
        </p:blipFill>
        <p:spPr>
          <a:xfrm>
            <a:off x="2598853" y="1293803"/>
            <a:ext cx="6994291" cy="3697502"/>
          </a:xfrm>
          <a:prstGeom prst="rect">
            <a:avLst/>
          </a:prstGeom>
        </p:spPr>
      </p:pic>
      <p:sp>
        <p:nvSpPr>
          <p:cNvPr id="6" name="TextBox 5">
            <a:extLst>
              <a:ext uri="{FF2B5EF4-FFF2-40B4-BE49-F238E27FC236}">
                <a16:creationId xmlns:a16="http://schemas.microsoft.com/office/drawing/2014/main" id="{2D95042B-A95E-659C-C24D-CB5574F0E146}"/>
              </a:ext>
            </a:extLst>
          </p:cNvPr>
          <p:cNvSpPr txBox="1"/>
          <p:nvPr/>
        </p:nvSpPr>
        <p:spPr>
          <a:xfrm>
            <a:off x="1394148" y="5594177"/>
            <a:ext cx="9403702" cy="707886"/>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The system detects upward gaze as “UP LOOK” and scrolls the PDF upward, enabling hands-free document navigation.</a:t>
            </a:r>
            <a:endParaRPr lang="en-IN" sz="20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75271379-294E-ADEA-C5D3-90E6B406C6F9}"/>
              </a:ext>
            </a:extLst>
          </p:cNvPr>
          <p:cNvSpPr txBox="1"/>
          <p:nvPr/>
        </p:nvSpPr>
        <p:spPr>
          <a:xfrm>
            <a:off x="3825551" y="5159827"/>
            <a:ext cx="4338735"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Upward Gaze Document Scroll</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54988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AA7B0-F2BF-4234-B39D-05983D112C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E7859A-8028-5429-6108-D1C8460906B8}"/>
              </a:ext>
            </a:extLst>
          </p:cNvPr>
          <p:cNvSpPr>
            <a:spLocks noGrp="1"/>
          </p:cNvSpPr>
          <p:nvPr>
            <p:ph type="title"/>
          </p:nvPr>
        </p:nvSpPr>
        <p:spPr>
          <a:xfrm>
            <a:off x="838200" y="677101"/>
            <a:ext cx="10515600" cy="616702"/>
          </a:xfrm>
        </p:spPr>
        <p:txBody>
          <a:bodyPr>
            <a:normAutofit/>
          </a:bodyPr>
          <a:lstStyle/>
          <a:p>
            <a:pPr algn="ctr"/>
            <a:r>
              <a:rPr lang="en-US" sz="3500" b="1" dirty="0">
                <a:latin typeface="Times New Roman" panose="02020603050405020304" pitchFamily="18" charset="0"/>
                <a:cs typeface="Times New Roman" panose="02020603050405020304" pitchFamily="18" charset="0"/>
              </a:rPr>
              <a:t>EXPERIMENTAL RESULT</a:t>
            </a:r>
            <a:endParaRPr lang="en-IN" sz="3500" b="1" dirty="0">
              <a:latin typeface="Times New Roman" pitchFamily="18" charset="0"/>
              <a:cs typeface="Times New Roman" pitchFamily="18" charset="0"/>
            </a:endParaRPr>
          </a:p>
        </p:txBody>
      </p:sp>
      <p:pic>
        <p:nvPicPr>
          <p:cNvPr id="3" name="Image 20">
            <a:extLst>
              <a:ext uri="{FF2B5EF4-FFF2-40B4-BE49-F238E27FC236}">
                <a16:creationId xmlns:a16="http://schemas.microsoft.com/office/drawing/2014/main" id="{CA865C86-6F20-07FC-30E0-EB7B19690445}"/>
              </a:ext>
            </a:extLst>
          </p:cNvPr>
          <p:cNvPicPr>
            <a:picLocks/>
          </p:cNvPicPr>
          <p:nvPr/>
        </p:nvPicPr>
        <p:blipFill>
          <a:blip r:embed="rId2" cstate="print">
            <a:extLst>
              <a:ext uri="{28A0092B-C50C-407E-A947-70E740481C1C}">
                <a14:useLocalDpi xmlns:a14="http://schemas.microsoft.com/office/drawing/2010/main" val="0"/>
              </a:ext>
            </a:extLst>
          </a:blip>
          <a:srcRect/>
          <a:stretch/>
        </p:blipFill>
        <p:spPr>
          <a:xfrm>
            <a:off x="2598853" y="1293803"/>
            <a:ext cx="6994291" cy="3675645"/>
          </a:xfrm>
          <a:prstGeom prst="rect">
            <a:avLst/>
          </a:prstGeom>
        </p:spPr>
      </p:pic>
      <p:sp>
        <p:nvSpPr>
          <p:cNvPr id="5" name="TextBox 4">
            <a:extLst>
              <a:ext uri="{FF2B5EF4-FFF2-40B4-BE49-F238E27FC236}">
                <a16:creationId xmlns:a16="http://schemas.microsoft.com/office/drawing/2014/main" id="{11EC2659-7C86-5CDC-F934-7DD44EAE9A2B}"/>
              </a:ext>
            </a:extLst>
          </p:cNvPr>
          <p:cNvSpPr txBox="1"/>
          <p:nvPr/>
        </p:nvSpPr>
        <p:spPr>
          <a:xfrm>
            <a:off x="1394148" y="5594177"/>
            <a:ext cx="9403702" cy="707886"/>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The system detects downward gaze as “DOWN LOOK” and scrolls the PDF downward, ensuring smooth hands-free navigation.</a:t>
            </a:r>
            <a:endParaRPr lang="en-IN" sz="20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19290027-FF04-8BA7-69AC-E6C7C354478E}"/>
              </a:ext>
            </a:extLst>
          </p:cNvPr>
          <p:cNvSpPr txBox="1"/>
          <p:nvPr/>
        </p:nvSpPr>
        <p:spPr>
          <a:xfrm>
            <a:off x="3825551" y="5150496"/>
            <a:ext cx="4338735"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Downward Gaze Document Scroll</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33367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D1510-7E2A-496B-340E-784A14D285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AD3D68-3FA6-6BEE-8AEF-FAB54CF16878}"/>
              </a:ext>
            </a:extLst>
          </p:cNvPr>
          <p:cNvSpPr>
            <a:spLocks noGrp="1"/>
          </p:cNvSpPr>
          <p:nvPr>
            <p:ph type="title"/>
          </p:nvPr>
        </p:nvSpPr>
        <p:spPr>
          <a:xfrm>
            <a:off x="838200" y="677101"/>
            <a:ext cx="10515600" cy="616702"/>
          </a:xfrm>
        </p:spPr>
        <p:txBody>
          <a:bodyPr>
            <a:normAutofit/>
          </a:bodyPr>
          <a:lstStyle/>
          <a:p>
            <a:pPr algn="ctr"/>
            <a:r>
              <a:rPr lang="en-US" sz="3500" b="1" dirty="0">
                <a:latin typeface="Times New Roman" panose="02020603050405020304" pitchFamily="18" charset="0"/>
                <a:cs typeface="Times New Roman" panose="02020603050405020304" pitchFamily="18" charset="0"/>
              </a:rPr>
              <a:t>EXPERIMENTAL RESULT</a:t>
            </a:r>
            <a:endParaRPr lang="en-IN" sz="3500" b="1" dirty="0">
              <a:latin typeface="Times New Roman" pitchFamily="18" charset="0"/>
              <a:cs typeface="Times New Roman" pitchFamily="18" charset="0"/>
            </a:endParaRPr>
          </a:p>
        </p:txBody>
      </p:sp>
      <p:pic>
        <p:nvPicPr>
          <p:cNvPr id="3" name="Image 20">
            <a:extLst>
              <a:ext uri="{FF2B5EF4-FFF2-40B4-BE49-F238E27FC236}">
                <a16:creationId xmlns:a16="http://schemas.microsoft.com/office/drawing/2014/main" id="{27E92C6D-FC0C-0114-9B7B-165FD900F668}"/>
              </a:ext>
            </a:extLst>
          </p:cNvPr>
          <p:cNvPicPr>
            <a:picLocks/>
          </p:cNvPicPr>
          <p:nvPr/>
        </p:nvPicPr>
        <p:blipFill>
          <a:blip r:embed="rId2" cstate="print">
            <a:extLst>
              <a:ext uri="{28A0092B-C50C-407E-A947-70E740481C1C}">
                <a14:useLocalDpi xmlns:a14="http://schemas.microsoft.com/office/drawing/2010/main" val="0"/>
              </a:ext>
            </a:extLst>
          </a:blip>
          <a:srcRect/>
          <a:stretch/>
        </p:blipFill>
        <p:spPr>
          <a:xfrm>
            <a:off x="2598853" y="1293803"/>
            <a:ext cx="6994291" cy="3682931"/>
          </a:xfrm>
          <a:prstGeom prst="rect">
            <a:avLst/>
          </a:prstGeom>
        </p:spPr>
      </p:pic>
      <p:sp>
        <p:nvSpPr>
          <p:cNvPr id="5" name="TextBox 4">
            <a:extLst>
              <a:ext uri="{FF2B5EF4-FFF2-40B4-BE49-F238E27FC236}">
                <a16:creationId xmlns:a16="http://schemas.microsoft.com/office/drawing/2014/main" id="{21CDC86E-22F1-93A1-7C68-9A1B2255DCFE}"/>
              </a:ext>
            </a:extLst>
          </p:cNvPr>
          <p:cNvSpPr txBox="1"/>
          <p:nvPr/>
        </p:nvSpPr>
        <p:spPr>
          <a:xfrm>
            <a:off x="1394148" y="5594177"/>
            <a:ext cx="9403702" cy="707886"/>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The system detects center gaze as “CENTER LOOK” and stops PDF scrolling, allowing the user to read the document clearly without movement.</a:t>
            </a:r>
            <a:endParaRPr lang="en-IN" sz="20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2467099F-D95C-44B2-F01C-9DB0AD5E3452}"/>
              </a:ext>
            </a:extLst>
          </p:cNvPr>
          <p:cNvSpPr txBox="1"/>
          <p:nvPr/>
        </p:nvSpPr>
        <p:spPr>
          <a:xfrm>
            <a:off x="3825551" y="5150497"/>
            <a:ext cx="4338735"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Center Gaze Document Pause</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13283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1875F-D1D8-4410-30C7-EFA5684E4303}"/>
              </a:ext>
            </a:extLst>
          </p:cNvPr>
          <p:cNvSpPr>
            <a:spLocks noGrp="1"/>
          </p:cNvSpPr>
          <p:nvPr>
            <p:ph type="title"/>
          </p:nvPr>
        </p:nvSpPr>
        <p:spPr>
          <a:xfrm>
            <a:off x="927652" y="667043"/>
            <a:ext cx="10515600" cy="645392"/>
          </a:xfrm>
        </p:spPr>
        <p:txBody>
          <a:bodyPr>
            <a:normAutofit/>
          </a:bodyPr>
          <a:lstStyle/>
          <a:p>
            <a:pPr algn="ctr"/>
            <a:r>
              <a:rPr lang="en-US" sz="3500" b="1" dirty="0">
                <a:latin typeface="Times New Roman" pitchFamily="18" charset="0"/>
                <a:cs typeface="Times New Roman" pitchFamily="18" charset="0"/>
              </a:rPr>
              <a:t>CONCLUSION</a:t>
            </a:r>
            <a:endParaRPr lang="en-IN" sz="35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42E2F2F4-C35D-236A-A9F2-7096E8A59705}"/>
              </a:ext>
            </a:extLst>
          </p:cNvPr>
          <p:cNvSpPr>
            <a:spLocks noGrp="1"/>
          </p:cNvSpPr>
          <p:nvPr>
            <p:ph idx="1"/>
          </p:nvPr>
        </p:nvSpPr>
        <p:spPr>
          <a:xfrm>
            <a:off x="838200" y="1540565"/>
            <a:ext cx="10515600" cy="4636398"/>
          </a:xfrm>
        </p:spPr>
        <p:txBody>
          <a:bodyPr>
            <a:normAutofit/>
          </a:bodyPr>
          <a:lstStyle/>
          <a:p>
            <a:pPr marL="0" indent="0" algn="just">
              <a:lnSpc>
                <a:spcPct val="150000"/>
              </a:lnSpc>
              <a:buNone/>
            </a:pPr>
            <a:r>
              <a:rPr lang="en-US" sz="2000" dirty="0">
                <a:latin typeface="Times New Roman" pitchFamily="18" charset="0"/>
                <a:cs typeface="Times New Roman" pitchFamily="18" charset="0"/>
              </a:rPr>
              <a:t>	The system integrates computer vision and machine learning to enable accurate, real-time eye-based interaction. Face detection, eye tracking, iris detection, blink detection, and CNN-based classification are successfully implemented, allowing reliable detection of eye movements and command generation. The system effectively controls the 3D wheelchair model, demonstrating smooth and responsive performance with minimal latency. Core modules, including document scrolling, are completed and functioning efficiently. The system supports gaze-based navigation and interaction. Overall, it provides a scalable, low-cost, and hands-free solution, enhancing accessibility and user independence in real-time applications.</a:t>
            </a:r>
            <a:endParaRPr lang="en-IN" sz="2200"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20802419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88CD3-1136-104A-CEAA-C4E02C75A8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658394-7F82-24A7-1C98-C30BBFFA94FD}"/>
              </a:ext>
            </a:extLst>
          </p:cNvPr>
          <p:cNvSpPr>
            <a:spLocks noGrp="1"/>
          </p:cNvSpPr>
          <p:nvPr>
            <p:ph type="title"/>
          </p:nvPr>
        </p:nvSpPr>
        <p:spPr>
          <a:xfrm>
            <a:off x="927652" y="667043"/>
            <a:ext cx="10515600" cy="645392"/>
          </a:xfrm>
        </p:spPr>
        <p:txBody>
          <a:bodyPr>
            <a:normAutofit/>
          </a:bodyPr>
          <a:lstStyle/>
          <a:p>
            <a:pPr algn="ctr"/>
            <a:r>
              <a:rPr lang="en-IN" sz="3600" b="1" dirty="0">
                <a:latin typeface="Times New Roman" pitchFamily="18" charset="0"/>
                <a:cs typeface="Times New Roman" pitchFamily="18" charset="0"/>
              </a:rPr>
              <a:t>FUTURE ENHANCEMENT</a:t>
            </a:r>
            <a:endParaRPr lang="en-IN" sz="35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4740CCCD-A611-7D1A-8365-4F10D27F3389}"/>
              </a:ext>
            </a:extLst>
          </p:cNvPr>
          <p:cNvSpPr>
            <a:spLocks noGrp="1"/>
          </p:cNvSpPr>
          <p:nvPr>
            <p:ph idx="1"/>
          </p:nvPr>
        </p:nvSpPr>
        <p:spPr>
          <a:xfrm>
            <a:off x="838200" y="1540565"/>
            <a:ext cx="10515600" cy="4636398"/>
          </a:xfrm>
        </p:spPr>
        <p:txBody>
          <a:bodyPr>
            <a:normAutofit/>
          </a:bodyPr>
          <a:lstStyle/>
          <a:p>
            <a:pPr marL="0" indent="0" algn="just">
              <a:lnSpc>
                <a:spcPct val="150000"/>
              </a:lnSpc>
              <a:buNone/>
            </a:pPr>
            <a:r>
              <a:rPr lang="en-US" sz="2000" dirty="0">
                <a:latin typeface="Times New Roman" pitchFamily="18" charset="0"/>
                <a:cs typeface="Times New Roman" pitchFamily="18" charset="0"/>
              </a:rPr>
              <a:t>	Future enhancements focus on converting the system into a hardware-based model using Raspberry Pi. By integrating a camera module and Python libraries like OpenCV, </a:t>
            </a:r>
            <a:r>
              <a:rPr lang="en-US" sz="2000" dirty="0" err="1">
                <a:latin typeface="Times New Roman" pitchFamily="18" charset="0"/>
                <a:cs typeface="Times New Roman" pitchFamily="18" charset="0"/>
              </a:rPr>
              <a:t>MediaPipe</a:t>
            </a:r>
            <a:r>
              <a:rPr lang="en-US" sz="2000" dirty="0">
                <a:latin typeface="Times New Roman" pitchFamily="18" charset="0"/>
                <a:cs typeface="Times New Roman" pitchFamily="18" charset="0"/>
              </a:rPr>
              <a:t>, and TensorFlow, real-time embedded processing can be achieved. Optimization techniques will reduce computational load and improve efficiency on low-power devices. Wireless modules can enable real-world control and monitoring. Improving model efficiency and reducing latency will further enhance performance. This integration will make the system portable, cost-effective, and suitable for real-time applications, improving usability and accessibility.</a:t>
            </a:r>
            <a:endParaRPr lang="en-IN" sz="2200"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16946204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DCAE6-8D39-4020-8485-01FCF0DADDE0}"/>
              </a:ext>
            </a:extLst>
          </p:cNvPr>
          <p:cNvSpPr>
            <a:spLocks noGrp="1"/>
          </p:cNvSpPr>
          <p:nvPr>
            <p:ph type="title"/>
          </p:nvPr>
        </p:nvSpPr>
        <p:spPr>
          <a:xfrm>
            <a:off x="828261" y="464914"/>
            <a:ext cx="10515600" cy="628103"/>
          </a:xfrm>
        </p:spPr>
        <p:txBody>
          <a:bodyPr>
            <a:normAutofit/>
          </a:bodyPr>
          <a:lstStyle/>
          <a:p>
            <a:pPr algn="ctr"/>
            <a:r>
              <a:rPr lang="en-US" sz="3000" b="1" dirty="0">
                <a:latin typeface="Times New Roman" panose="02020603050405020304" pitchFamily="18" charset="0"/>
                <a:cs typeface="Times New Roman" panose="02020603050405020304" pitchFamily="18" charset="0"/>
              </a:rPr>
              <a:t>REFERENCES</a:t>
            </a:r>
            <a:endParaRPr lang="en-US" sz="3000" dirty="0"/>
          </a:p>
        </p:txBody>
      </p:sp>
      <p:sp>
        <p:nvSpPr>
          <p:cNvPr id="3" name="Content Placeholder 2">
            <a:extLst>
              <a:ext uri="{FF2B5EF4-FFF2-40B4-BE49-F238E27FC236}">
                <a16:creationId xmlns:a16="http://schemas.microsoft.com/office/drawing/2014/main" id="{B93E7DAE-AB69-440B-86D3-393EFFFA71EE}"/>
              </a:ext>
            </a:extLst>
          </p:cNvPr>
          <p:cNvSpPr>
            <a:spLocks noGrp="1"/>
          </p:cNvSpPr>
          <p:nvPr>
            <p:ph idx="1"/>
          </p:nvPr>
        </p:nvSpPr>
        <p:spPr>
          <a:xfrm>
            <a:off x="526773" y="1202944"/>
            <a:ext cx="11370365" cy="5098465"/>
          </a:xfrm>
        </p:spPr>
        <p:txBody>
          <a:bodyPr>
            <a:noAutofit/>
          </a:bodyPr>
          <a:lstStyle/>
          <a:p>
            <a:pPr marL="0" indent="0">
              <a:lnSpc>
                <a:spcPct val="150000"/>
              </a:lnSpc>
              <a:spcAft>
                <a:spcPts val="800"/>
              </a:spcAft>
              <a:buNone/>
            </a:pPr>
            <a:r>
              <a:rPr lang="en-IN" sz="1800" dirty="0">
                <a:latin typeface="Times New Roman" panose="02020603050405020304" pitchFamily="18" charset="0"/>
                <a:cs typeface="Times New Roman" panose="02020603050405020304" pitchFamily="18" charset="0"/>
              </a:rPr>
              <a:t>[1] H. Lefèvre, T. Chaki, T. Kawakami, A. Tanguy, T. </a:t>
            </a:r>
            <a:r>
              <a:rPr lang="en-IN" sz="1800" dirty="0" err="1">
                <a:latin typeface="Times New Roman" panose="02020603050405020304" pitchFamily="18" charset="0"/>
                <a:cs typeface="Times New Roman" panose="02020603050405020304" pitchFamily="18" charset="0"/>
              </a:rPr>
              <a:t>Yoshiike</a:t>
            </a:r>
            <a:r>
              <a:rPr lang="en-IN" sz="1800" dirty="0">
                <a:latin typeface="Times New Roman" panose="02020603050405020304" pitchFamily="18" charset="0"/>
                <a:cs typeface="Times New Roman" panose="02020603050405020304" pitchFamily="18" charset="0"/>
              </a:rPr>
              <a:t>, and A. </a:t>
            </a:r>
            <a:r>
              <a:rPr lang="en-IN" sz="1800" dirty="0" err="1">
                <a:latin typeface="Times New Roman" panose="02020603050405020304" pitchFamily="18" charset="0"/>
                <a:cs typeface="Times New Roman" panose="02020603050405020304" pitchFamily="18" charset="0"/>
              </a:rPr>
              <a:t>Kheddar</a:t>
            </a:r>
            <a:r>
              <a:rPr lang="en-IN" sz="1800" dirty="0">
                <a:latin typeface="Times New Roman" panose="02020603050405020304" pitchFamily="18" charset="0"/>
                <a:cs typeface="Times New Roman" panose="02020603050405020304" pitchFamily="18" charset="0"/>
              </a:rPr>
              <a:t>, ‘‘Humanoid-human sit-to-stand-to-sit assistance,’’ IEEE Robotics and Automation Letters, vol. 10, pp. 210–218, 2025.</a:t>
            </a:r>
          </a:p>
          <a:p>
            <a:pPr marL="0" indent="0">
              <a:lnSpc>
                <a:spcPct val="150000"/>
              </a:lnSpc>
              <a:spcAft>
                <a:spcPts val="800"/>
              </a:spcAft>
              <a:buNone/>
            </a:pPr>
            <a:r>
              <a:rPr lang="en-IN" sz="1800" dirty="0">
                <a:latin typeface="Times New Roman" panose="02020603050405020304" pitchFamily="18" charset="0"/>
                <a:cs typeface="Times New Roman" panose="02020603050405020304" pitchFamily="18" charset="0"/>
              </a:rPr>
              <a:t>[2]  C. Wang, R. Wang, Y. Leng, K. </a:t>
            </a:r>
            <a:r>
              <a:rPr lang="en-IN" sz="1800" dirty="0" err="1">
                <a:latin typeface="Times New Roman" panose="02020603050405020304" pitchFamily="18" charset="0"/>
                <a:cs typeface="Times New Roman" panose="02020603050405020304" pitchFamily="18" charset="0"/>
              </a:rPr>
              <a:t>Iramina</a:t>
            </a:r>
            <a:r>
              <a:rPr lang="en-IN" sz="1800" dirty="0">
                <a:latin typeface="Times New Roman" panose="02020603050405020304" pitchFamily="18" charset="0"/>
                <a:cs typeface="Times New Roman" panose="02020603050405020304" pitchFamily="18" charset="0"/>
              </a:rPr>
              <a:t>, Y. Yang, and S. Ge, ‘‘An eye movement classification method based on cascade forest,’’ IEEE Journal of Biomedical and Health Informatics, vol. 28, no. 12, pp. 7184–7193, Dec. 2024.</a:t>
            </a:r>
          </a:p>
          <a:p>
            <a:pPr marL="0" indent="0">
              <a:lnSpc>
                <a:spcPct val="150000"/>
              </a:lnSpc>
              <a:spcAft>
                <a:spcPts val="800"/>
              </a:spcAft>
              <a:buNone/>
            </a:pPr>
            <a:r>
              <a:rPr lang="en-IN" sz="1800" dirty="0">
                <a:latin typeface="Times New Roman" panose="02020603050405020304" pitchFamily="18" charset="0"/>
                <a:cs typeface="Times New Roman" panose="02020603050405020304" pitchFamily="18" charset="0"/>
              </a:rPr>
              <a:t>[3]  S. </a:t>
            </a:r>
            <a:r>
              <a:rPr lang="en-IN" sz="1800" dirty="0" err="1">
                <a:latin typeface="Times New Roman" panose="02020603050405020304" pitchFamily="18" charset="0"/>
                <a:cs typeface="Times New Roman" panose="02020603050405020304" pitchFamily="18" charset="0"/>
              </a:rPr>
              <a:t>Artiran</a:t>
            </a:r>
            <a:r>
              <a:rPr lang="en-IN" sz="1800" dirty="0">
                <a:latin typeface="Times New Roman" panose="02020603050405020304" pitchFamily="18" charset="0"/>
                <a:cs typeface="Times New Roman" panose="02020603050405020304" pitchFamily="18" charset="0"/>
              </a:rPr>
              <a:t>, P. S. </a:t>
            </a:r>
            <a:r>
              <a:rPr lang="en-IN" sz="1800" dirty="0" err="1">
                <a:latin typeface="Times New Roman" panose="02020603050405020304" pitchFamily="18" charset="0"/>
                <a:cs typeface="Times New Roman" panose="02020603050405020304" pitchFamily="18" charset="0"/>
              </a:rPr>
              <a:t>Bedmutha</a:t>
            </a:r>
            <a:r>
              <a:rPr lang="en-IN" sz="1800" dirty="0">
                <a:latin typeface="Times New Roman" panose="02020603050405020304" pitchFamily="18" charset="0"/>
                <a:cs typeface="Times New Roman" panose="02020603050405020304" pitchFamily="18" charset="0"/>
              </a:rPr>
              <a:t>, and P. Cosman, ‘‘Analysis of gaze, head orientation, and joint attention in autism with triadic VR interviews,’’ IEEE Trans. Neural Syst. </a:t>
            </a:r>
            <a:r>
              <a:rPr lang="en-IN" sz="1800" dirty="0" err="1">
                <a:latin typeface="Times New Roman" panose="02020603050405020304" pitchFamily="18" charset="0"/>
                <a:cs typeface="Times New Roman" panose="02020603050405020304" pitchFamily="18" charset="0"/>
              </a:rPr>
              <a:t>Rehabil</a:t>
            </a:r>
            <a:r>
              <a:rPr lang="en-IN" sz="1800" dirty="0">
                <a:latin typeface="Times New Roman" panose="02020603050405020304" pitchFamily="18" charset="0"/>
                <a:cs typeface="Times New Roman" panose="02020603050405020304" pitchFamily="18" charset="0"/>
              </a:rPr>
              <a:t>. Eng., vol. 32, pp. 759–769, 2024.</a:t>
            </a:r>
          </a:p>
          <a:p>
            <a:pPr marL="0" indent="0">
              <a:lnSpc>
                <a:spcPct val="150000"/>
              </a:lnSpc>
              <a:spcAft>
                <a:spcPts val="800"/>
              </a:spcAft>
              <a:buNone/>
            </a:pPr>
            <a:r>
              <a:rPr lang="en-IN" sz="1800" dirty="0">
                <a:latin typeface="Times New Roman" panose="02020603050405020304" pitchFamily="18" charset="0"/>
                <a:cs typeface="Times New Roman" panose="02020603050405020304" pitchFamily="18" charset="0"/>
              </a:rPr>
              <a:t>[4] N. Li, M. Chang, and A. </a:t>
            </a:r>
            <a:r>
              <a:rPr lang="en-IN" sz="1800" dirty="0" err="1">
                <a:latin typeface="Times New Roman" panose="02020603050405020304" pitchFamily="18" charset="0"/>
                <a:cs typeface="Times New Roman" panose="02020603050405020304" pitchFamily="18" charset="0"/>
              </a:rPr>
              <a:t>Raychowdhury</a:t>
            </a:r>
            <a:r>
              <a:rPr lang="en-IN" sz="1800" dirty="0">
                <a:latin typeface="Times New Roman" panose="02020603050405020304" pitchFamily="18" charset="0"/>
                <a:cs typeface="Times New Roman" panose="02020603050405020304" pitchFamily="18" charset="0"/>
              </a:rPr>
              <a:t>, ‘‘E-Gaze: Gaze estimation with event camera,’’ IEEE Transactions on Circuits and Systems for Video Technology, vol. 34, pp. 1450–1460, 2024.</a:t>
            </a:r>
          </a:p>
        </p:txBody>
      </p:sp>
    </p:spTree>
    <p:extLst>
      <p:ext uri="{BB962C8B-B14F-4D97-AF65-F5344CB8AC3E}">
        <p14:creationId xmlns:p14="http://schemas.microsoft.com/office/powerpoint/2010/main" val="34722420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7533A-0DAD-D68E-8205-CAECD57D08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0EA0C2-0013-70D5-8DFB-F3FFBB5DF012}"/>
              </a:ext>
            </a:extLst>
          </p:cNvPr>
          <p:cNvSpPr>
            <a:spLocks noGrp="1"/>
          </p:cNvSpPr>
          <p:nvPr>
            <p:ph type="title"/>
          </p:nvPr>
        </p:nvSpPr>
        <p:spPr>
          <a:xfrm>
            <a:off x="828261" y="418271"/>
            <a:ext cx="10515600" cy="628103"/>
          </a:xfrm>
        </p:spPr>
        <p:txBody>
          <a:bodyPr>
            <a:normAutofit/>
          </a:bodyPr>
          <a:lstStyle/>
          <a:p>
            <a:pPr algn="ctr"/>
            <a:r>
              <a:rPr lang="en-US" sz="3000" b="1" dirty="0">
                <a:latin typeface="Times New Roman" panose="02020603050405020304" pitchFamily="18" charset="0"/>
                <a:cs typeface="Times New Roman" panose="02020603050405020304" pitchFamily="18" charset="0"/>
              </a:rPr>
              <a:t>REFERENCES</a:t>
            </a:r>
            <a:endParaRPr lang="en-US" sz="3000" dirty="0"/>
          </a:p>
        </p:txBody>
      </p:sp>
      <p:sp>
        <p:nvSpPr>
          <p:cNvPr id="3" name="Content Placeholder 2">
            <a:extLst>
              <a:ext uri="{FF2B5EF4-FFF2-40B4-BE49-F238E27FC236}">
                <a16:creationId xmlns:a16="http://schemas.microsoft.com/office/drawing/2014/main" id="{84E50AFA-4142-8D2E-3954-755134DC3516}"/>
              </a:ext>
            </a:extLst>
          </p:cNvPr>
          <p:cNvSpPr>
            <a:spLocks noGrp="1"/>
          </p:cNvSpPr>
          <p:nvPr>
            <p:ph idx="1"/>
          </p:nvPr>
        </p:nvSpPr>
        <p:spPr>
          <a:xfrm>
            <a:off x="526773" y="1202944"/>
            <a:ext cx="11370365" cy="5098465"/>
          </a:xfrm>
        </p:spPr>
        <p:txBody>
          <a:bodyPr>
            <a:noAutofit/>
          </a:bodyPr>
          <a:lstStyle/>
          <a:p>
            <a:pPr marL="0" indent="0">
              <a:lnSpc>
                <a:spcPct val="150000"/>
              </a:lnSpc>
              <a:spcAft>
                <a:spcPts val="800"/>
              </a:spcAft>
              <a:buNone/>
            </a:pPr>
            <a:r>
              <a:rPr lang="en-IN" sz="1800" dirty="0">
                <a:latin typeface="Times New Roman" panose="02020603050405020304" pitchFamily="18" charset="0"/>
                <a:cs typeface="Times New Roman" panose="02020603050405020304" pitchFamily="18" charset="0"/>
              </a:rPr>
              <a:t>[5] M. Abul Hassan, C. M. Aldridge, Y. Zhuang, et al., ‘‘Approach to quantify eye movements to augment stroke diagnosis with a non-calibrated eye-tracker,’’ IEEE Journal of Biomedical and Health Informatics, vol. 27, pp. 345–353, 2023.</a:t>
            </a:r>
          </a:p>
          <a:p>
            <a:pPr marL="0" indent="0">
              <a:lnSpc>
                <a:spcPct val="150000"/>
              </a:lnSpc>
              <a:spcAft>
                <a:spcPts val="800"/>
              </a:spcAft>
              <a:buNone/>
            </a:pPr>
            <a:r>
              <a:rPr lang="en-IN" sz="1800" dirty="0">
                <a:latin typeface="Times New Roman" panose="02020603050405020304" pitchFamily="18" charset="0"/>
                <a:cs typeface="Times New Roman" panose="02020603050405020304" pitchFamily="18" charset="0"/>
              </a:rPr>
              <a:t>[6]  </a:t>
            </a:r>
            <a:r>
              <a:rPr lang="en-IN" sz="1800" dirty="0" err="1">
                <a:latin typeface="Times New Roman" panose="02020603050405020304" pitchFamily="18" charset="0"/>
                <a:cs typeface="Times New Roman" panose="02020603050405020304" pitchFamily="18" charset="0"/>
              </a:rPr>
              <a:t>Xinming</a:t>
            </a:r>
            <a:r>
              <a:rPr lang="en-IN" sz="1800" dirty="0">
                <a:latin typeface="Times New Roman" panose="02020603050405020304" pitchFamily="18" charset="0"/>
                <a:cs typeface="Times New Roman" panose="02020603050405020304" pitchFamily="18" charset="0"/>
              </a:rPr>
              <a:t> Wang, J. Zhang, H. Zhang, S. Zhao, and H. Liu, “Vision-Based Gaze Estimation: A Review,” IEEE Transactions on Cognitive and Developmental Systems, vol. 14, no. 2, pp. 316–326, June 2022.</a:t>
            </a:r>
          </a:p>
          <a:p>
            <a:pPr marL="0" indent="0">
              <a:lnSpc>
                <a:spcPct val="150000"/>
              </a:lnSpc>
              <a:spcAft>
                <a:spcPts val="800"/>
              </a:spcAft>
              <a:buNone/>
            </a:pPr>
            <a:r>
              <a:rPr lang="en-IN" sz="1800" dirty="0">
                <a:latin typeface="Times New Roman" panose="02020603050405020304" pitchFamily="18" charset="0"/>
                <a:cs typeface="Times New Roman" panose="02020603050405020304" pitchFamily="18" charset="0"/>
              </a:rPr>
              <a:t>[7] </a:t>
            </a:r>
            <a:r>
              <a:rPr lang="en-US" sz="1800" dirty="0">
                <a:latin typeface="Times New Roman" panose="02020603050405020304" pitchFamily="18" charset="0"/>
                <a:cs typeface="Times New Roman" panose="02020603050405020304" pitchFamily="18" charset="0"/>
              </a:rPr>
              <a:t>X. Sun and B. Balasingam, ‘‘Reading line classification using eye-trackers,’’ IEEE Access, vol. 9, pp. 56780–56790, 2021</a:t>
            </a:r>
            <a:r>
              <a:rPr lang="en-IN" sz="1800" dirty="0">
                <a:latin typeface="Times New Roman" panose="02020603050405020304" pitchFamily="18" charset="0"/>
                <a:cs typeface="Times New Roman" panose="02020603050405020304" pitchFamily="18" charset="0"/>
              </a:rPr>
              <a:t>.</a:t>
            </a:r>
          </a:p>
          <a:p>
            <a:pPr marL="0" indent="0">
              <a:lnSpc>
                <a:spcPct val="150000"/>
              </a:lnSpc>
              <a:spcAft>
                <a:spcPts val="800"/>
              </a:spcAft>
              <a:buNone/>
            </a:pPr>
            <a:r>
              <a:rPr lang="en-IN" sz="1800" dirty="0">
                <a:latin typeface="Times New Roman" panose="02020603050405020304" pitchFamily="18" charset="0"/>
                <a:cs typeface="Times New Roman" panose="02020603050405020304" pitchFamily="18" charset="0"/>
              </a:rPr>
              <a:t>[8] </a:t>
            </a:r>
            <a:r>
              <a:rPr lang="en-US" sz="1800" dirty="0">
                <a:latin typeface="Times New Roman" panose="02020603050405020304" pitchFamily="18" charset="0"/>
                <a:cs typeface="Times New Roman" panose="02020603050405020304" pitchFamily="18" charset="0"/>
              </a:rPr>
              <a:t>Y. Cheung and Q. Peng, ‘‘Eye gaze tracking with a web camera in a desktop environment,’’ International Journal of Computer Vision Applications, vol. 10, pp. 112–120, 2015</a:t>
            </a:r>
            <a:r>
              <a:rPr lang="en-IN" sz="1800" dirty="0">
                <a:latin typeface="Times New Roman" panose="02020603050405020304" pitchFamily="18" charset="0"/>
                <a:cs typeface="Times New Roman" panose="02020603050405020304" pitchFamily="18" charset="0"/>
              </a:rPr>
              <a:t>.</a:t>
            </a:r>
          </a:p>
          <a:p>
            <a:pPr marL="0" indent="0">
              <a:lnSpc>
                <a:spcPct val="150000"/>
              </a:lnSpc>
              <a:spcAft>
                <a:spcPts val="800"/>
              </a:spcAft>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74282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59320-03B0-CCA6-BB56-007561BBB8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B5CDAD-2A7D-F39D-97A4-452E6AC05FEA}"/>
              </a:ext>
            </a:extLst>
          </p:cNvPr>
          <p:cNvSpPr>
            <a:spLocks noGrp="1"/>
          </p:cNvSpPr>
          <p:nvPr>
            <p:ph type="title"/>
          </p:nvPr>
        </p:nvSpPr>
        <p:spPr>
          <a:xfrm>
            <a:off x="927652" y="225977"/>
            <a:ext cx="10515600" cy="1036293"/>
          </a:xfrm>
        </p:spPr>
        <p:txBody>
          <a:bodyPr>
            <a:normAutofit/>
          </a:bodyPr>
          <a:lstStyle/>
          <a:p>
            <a:pPr algn="ctr"/>
            <a:r>
              <a:rPr lang="en-US" sz="3200" b="1" dirty="0">
                <a:latin typeface="Times New Roman" pitchFamily="18" charset="0"/>
                <a:cs typeface="Times New Roman" pitchFamily="18" charset="0"/>
              </a:rPr>
              <a:t>PUBLICATION</a:t>
            </a:r>
            <a:endParaRPr lang="en-IN" sz="32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1D2B929F-7662-86C4-2429-333EDA588FF9}"/>
              </a:ext>
            </a:extLst>
          </p:cNvPr>
          <p:cNvSpPr>
            <a:spLocks noGrp="1"/>
          </p:cNvSpPr>
          <p:nvPr>
            <p:ph idx="1"/>
          </p:nvPr>
        </p:nvSpPr>
        <p:spPr>
          <a:xfrm>
            <a:off x="838200" y="1540565"/>
            <a:ext cx="10515600" cy="4636398"/>
          </a:xfrm>
        </p:spPr>
        <p:txBody>
          <a:bodyPr>
            <a:normAutofit/>
          </a:bodyPr>
          <a:lstStyle/>
          <a:p>
            <a:pPr marL="0" indent="0" algn="just">
              <a:lnSpc>
                <a:spcPct val="150000"/>
              </a:lnSpc>
              <a:buNone/>
            </a:pPr>
            <a:r>
              <a:rPr lang="en-US" sz="2000" dirty="0">
                <a:latin typeface="Times New Roman" pitchFamily="18" charset="0"/>
                <a:cs typeface="Times New Roman" pitchFamily="18" charset="0"/>
              </a:rPr>
              <a:t>Dr. A. RAJAPRABU DHANARAJ R (621322104019), GOWTHAM S (621322104029) AND NITHISH S J (621322104061) has published a paper entitled </a:t>
            </a:r>
            <a:r>
              <a:rPr lang="en-US" sz="2000" b="1" dirty="0">
                <a:latin typeface="Times New Roman" pitchFamily="18" charset="0"/>
                <a:cs typeface="Times New Roman" pitchFamily="18" charset="0"/>
              </a:rPr>
              <a:t>“EYE-GAZE CONTROLLED WHEELCHAIR USING MACHINE LEARNING AND DEEP LEARNING APPROACH” </a:t>
            </a:r>
            <a:r>
              <a:rPr lang="en-US" sz="2000" dirty="0">
                <a:latin typeface="Times New Roman" pitchFamily="18" charset="0"/>
                <a:cs typeface="Times New Roman" pitchFamily="18" charset="0"/>
              </a:rPr>
              <a:t>in Proceedings of an International Conference, pp. 554–563, 2025.</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35039418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p:blipFill>
        <p:spPr bwMode="auto">
          <a:xfrm>
            <a:off x="1351722" y="665314"/>
            <a:ext cx="9849677" cy="5520980"/>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39810-7E07-C5BE-31B6-8399838F4D2A}"/>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8DDD8BC9-DEB7-63F3-32C3-ABB94CC1A58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p:blipFill>
        <p:spPr bwMode="auto">
          <a:xfrm>
            <a:off x="1351722" y="655983"/>
            <a:ext cx="9849677" cy="5520980"/>
          </a:xfrm>
          <a:prstGeom prst="rect">
            <a:avLst/>
          </a:prstGeom>
          <a:noFill/>
        </p:spPr>
      </p:pic>
    </p:spTree>
    <p:extLst>
      <p:ext uri="{BB962C8B-B14F-4D97-AF65-F5344CB8AC3E}">
        <p14:creationId xmlns:p14="http://schemas.microsoft.com/office/powerpoint/2010/main" val="22455305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E90EF-3A31-50A1-08A5-D3DCD810A4DD}"/>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A70ED764-9177-6354-0DB2-633F5E55A73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p:blipFill>
        <p:spPr bwMode="auto">
          <a:xfrm>
            <a:off x="1351722" y="655983"/>
            <a:ext cx="9849677" cy="5520980"/>
          </a:xfrm>
          <a:prstGeom prst="rect">
            <a:avLst/>
          </a:prstGeom>
          <a:noFill/>
        </p:spPr>
      </p:pic>
    </p:spTree>
    <p:extLst>
      <p:ext uri="{BB962C8B-B14F-4D97-AF65-F5344CB8AC3E}">
        <p14:creationId xmlns:p14="http://schemas.microsoft.com/office/powerpoint/2010/main" val="4787588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4905</TotalTime>
  <Words>2252</Words>
  <Application>Microsoft Office PowerPoint</Application>
  <PresentationFormat>Widescreen</PresentationFormat>
  <Paragraphs>183</Paragraphs>
  <Slides>36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Calibri Light</vt:lpstr>
      <vt:lpstr>Times New Roman</vt:lpstr>
      <vt:lpstr>Wingdings</vt:lpstr>
      <vt:lpstr>Office Theme</vt:lpstr>
      <vt:lpstr>PowerPoint Presentation</vt:lpstr>
      <vt:lpstr>EYE-GAZE CONTROLLED WHEELCHAIR USING MACHINE LEARNING AND DEEP LEARNING APPROACH</vt:lpstr>
      <vt:lpstr>ABSTRACT</vt:lpstr>
      <vt:lpstr>PROBLEM STATEMENT</vt:lpstr>
      <vt:lpstr>INTRODUCTION</vt:lpstr>
      <vt:lpstr>LITERATURE SURVEY </vt:lpstr>
      <vt:lpstr>LITERATURE SURVEY </vt:lpstr>
      <vt:lpstr>EXISTING SYSTEMS</vt:lpstr>
      <vt:lpstr>DISADVANTAGES</vt:lpstr>
      <vt:lpstr>ARCHITECTURE DIAGRAM</vt:lpstr>
      <vt:lpstr>PROPOSED SYSTEM</vt:lpstr>
      <vt:lpstr>ADVANTAGES</vt:lpstr>
      <vt:lpstr>REQUIREMENTS</vt:lpstr>
      <vt:lpstr>DATA FLOW DIAGRAM : LEVEL 0</vt:lpstr>
      <vt:lpstr>DATA FLOW DIAGRAM : LEVEL 1</vt:lpstr>
      <vt:lpstr>DATA FLOW DIAGRAM : LEVEL 2</vt:lpstr>
      <vt:lpstr>MODULE  SPLIT-UP</vt:lpstr>
      <vt:lpstr>MODULE  SPLIT-UP</vt:lpstr>
      <vt:lpstr>MODULE  SPLIT-UP</vt:lpstr>
      <vt:lpstr>MODULE  SPLIT-UP</vt:lpstr>
      <vt:lpstr>ALGORITHM USED</vt:lpstr>
      <vt:lpstr>EXPERIMENTAL RESULT</vt:lpstr>
      <vt:lpstr>EXPERIMENTAL RESULT</vt:lpstr>
      <vt:lpstr>EXPERIMENTAL RESULT</vt:lpstr>
      <vt:lpstr>EXPERIMENTAL RESULT</vt:lpstr>
      <vt:lpstr>EXPERIMENTAL RESULT</vt:lpstr>
      <vt:lpstr>EXPERIMENTAL RESULT</vt:lpstr>
      <vt:lpstr>EXPERIMENTAL RESULT</vt:lpstr>
      <vt:lpstr>CONCLUSION</vt:lpstr>
      <vt:lpstr>FUTURE ENHANCEMENT</vt:lpstr>
      <vt:lpstr>REFERENCES</vt:lpstr>
      <vt:lpstr>REFERENCES</vt:lpstr>
      <vt:lpstr>PUBLICATION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Sd Pro CS</dc:creator>
  <cp:lastModifiedBy>Nithish S J</cp:lastModifiedBy>
  <cp:revision>267</cp:revision>
  <dcterms:created xsi:type="dcterms:W3CDTF">2022-12-24T12:42:45Z</dcterms:created>
  <dcterms:modified xsi:type="dcterms:W3CDTF">2026-04-06T17:37:05Z</dcterms:modified>
</cp:coreProperties>
</file>